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目录" id="{acd36442-00b0-89ed-d5a6-41db000e94eb}">
          <p14:sldIdLst>
            <p14:sldId id="256"/>
            <p14:sldId id="257"/>
          </p14:sldIdLst>
        </p14:section>
        <p14:section name="研究背景与意义" id="{868a1caf-08ad-0505-df91-2f11db40725f}">
          <p14:sldIdLst>
            <p14:sldId id="258"/>
            <p14:sldId id="259"/>
          </p14:sldIdLst>
        </p14:section>
        <p14:section name="需求分析" id="{f81ac72c-65e1-8445-fcbc-ca2c093a1deb}">
          <p14:sldIdLst>
            <p14:sldId id="260"/>
            <p14:sldId id="261"/>
          </p14:sldIdLst>
        </p14:section>
        <p14:section name="系统设计" id="{5e530a67-7682-fa17-6a24-8429857dcb03}">
          <p14:sldIdLst>
            <p14:sldId id="262"/>
            <p14:sldId id="263"/>
            <p14:sldId id="264"/>
            <p14:sldId id="265"/>
          </p14:sldIdLst>
        </p14:section>
        <p14:section name="关键技术与实现" id="{ea9ea513-a083-e7ee-65cb-3b6748279e10}">
          <p14:sldIdLst>
            <p14:sldId id="266"/>
            <p14:sldId id="267"/>
            <p14:sldId id="268"/>
            <p14:sldId id="269"/>
          </p14:sldIdLst>
        </p14:section>
        <p14:section name="系统展示" id="{53b927b0-6d60-7eb0-0687-183ceb2f6b56}">
          <p14:sldIdLst>
            <p14:sldId id="270"/>
            <p14:sldId id="271"/>
            <p14:sldId id="272"/>
            <p14:sldId id="273"/>
          </p14:sldIdLst>
        </p14:section>
        <p14:section name="系统测试" id="{85e2d533-84c2-407a-b81e-05468e042bd8}">
          <p14:sldIdLst>
            <p14:sldId id="274"/>
            <p14:sldId id="275"/>
          </p14:sldIdLst>
        </p14:section>
        <p14:section name="总结与展望" id="{6972f301-7468-1d00-caa0-3a2a1f650d8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1182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Web 前端（Vitest）</c:v>
                  </c:pt>
                  <c:pt idx="1">
                    <c:v>后端（JUnit 5 + Mockito）</c:v>
                  </c:pt>
                  <c:pt idx="2">
                    <c:v>小程序端（Vitest）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57</c:v>
                </c:pt>
                <c:pt idx="2">
                  <c:v>202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1182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各位老师好，我是【姓名】，我的毕业设计题目是《基于 Spring Boot + Vue 的教务管理系统设计与实现》。系统包含 Web 管理端和微信小程序端两个客户端，共用一个 Spring Boot 后端。下面我从研究背景、需求分析、系统设计、关键技术、系统展示、系统测试和总结展望七个方面进行汇报。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这是本次汇报的提纲，共七个部分。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校教务管理涉及学院、专业、班级、课程、选课、成绩、考勤、请假等大量数据和流程。传统方式存在四个问题：信息分散、流程低效、只能在电脑上操作、缺少数据分析。本课题的意义在于：用一套后端同时支撑 Web 端和小程序端，让三类角色的业务在线上闭环，并引入学业预警和课程推荐，让数据服务于教学管理。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本课题完成的工作可以用这几个数字概括：3 类用户角色、2 个客户端、21 张数据表、25 个小程序页面、304 个单元测试。具体工作包括四个方面：一是三端协同的系统实现；二是安全与权限体系；三是课程推荐和学业预警两个数据算法；四是实时通知、多语言多主题等体验优化和工程化建设。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有三类角色。管理员负责基础数据和系统维护，包括档案、账号、排课、通知、请假审核和权限设置；教师负责教学过程，包括成绩录入、考勤登记、作业批改和学业预警跟踪；学生可以选课退课、查看课表成绩、提交作业、请假和评教。三类角色的数据严格隔离：教师只能看到自己任课课程的数据，学生只能看到自己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除了功能需求，系统还要满足五方面的非功能需求：安全性方面有令牌认证、密码哈希、验证码和登录锁定；易用性方面支持中英文和深浅色主题；可维护性方面用通用 CRUD 框架减少重复代码；性能方面用索引、统计下推和缓存；部署方面用 Docker 一条命令启动整个系统。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系统采用前后端分离的分层架构。表现层是 Web 管理端和微信小程序端；Web 端经 nginx 反向代理访问后端，小程序直连后端接口。业务层是 Spring Boot 后端，每个请求先经过 JWT 令牌校验和 RBAC 权限切面，再进入 Controller、Service、Mapper；另外还有 WebSocket 推送、操作日志切面、定时任务、文件上传和两个算法模块。数据层是 MySQL 数据库、文件存储和进程内缓存。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技术选型上，Web 端使用 Vue 3、TypeScript 和 Element Plus；后端使用 Spring Boot 2.7、MyBatis 和 MySQL，认证用 JWT 加 BCrypt，权限和日志用 Spring AOP 实现；小程序端使用 uni-app 编译为微信小程序；部署使用 Docker Compose 和 nginx，测试使用 JUnit 5、Mockito 和 Vitest。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系统按菜单划分为七个功能模块：首页与数据大屏、信息公告、行政管理、教学管理、教务管理、用户管理和系统管理，共 20 余个功能页面。不同角色看到的菜单不同，例如行政管理、用户管理和系统管理只对管理员开放。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数据库共 21 张表，其中 16 张业务表、5 张系统表。核心是以「选课」为枢纽的星型结构：学院、专业、班级、学生构成档案链；教师任教课程；学生选课之后，成绩、考勤、作业、评教都围绕「学生、课程、教师」三者展开。表之间采用逻辑外键，由业务层保证一致性，并为高频查询建立了联合索引和唯一索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安全方面，登录要经过五步：图形验证码、登录保护（连续失败 5 次锁定 10 分钟）、BCrypt 密码比对、签发 JWT、之后每个请求由拦截器校验令牌。权限方面采用 RBAC 模型，并做了四层控制：路由层、菜单层、按钮层在前端控制可见性，接口层由服务端 AOP 切面逐请求判定，即使绕过前端也无法越权。授权关系存在数据库里，管理员在权限设置页勾选后立即生效。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课程推荐采用基于物品的协同过滤。思路是：两门课被同一批学生选修得越多，它们就越相似。先由选课记录构建学生乘课程的 0/1 矩阵，再按余弦相似度计算课程两两之间的相似度，候选课的得分是它与该生已选课程相似度之和，排除已选课程后取前 N 门。右边是一个计算示例：只选了 A 的同学，C 与 A 的相似度 0.82 高于 B 的 0.67，所以优先推荐 C。对于没有选课记录的新同学，系统降级为按选课人数推荐热门课程。推荐结果缓存 60 秒，并有 9 个单元测试覆盖。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学业预警采用多指标加权评分模型：风险指数等于不及格占比乘 40，加平均分差距乘 30，加异常考勤率乘 30，其中缺勤计 1 次、迟到早退计半次。按指数分为正常、低、中、高四个等级。数据范围按角色隔离，教师只看到自己任课的学生。预警页展示各项指标和处理建议，教师或管理员可以一键推送提醒，学生通过 WebSocket 实时收到。这部分有 11 个单元测试覆盖各项边界和阈值。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系统用 WebSocket 实现实时通知。成绩录入、请假审核、作业批改、学业预警提醒等事件发生时，后端定点推送给相关学生；学生提交作业推送给教师；发布教务通知时全员广播。连接建立时校验令牌。Web 端收到后在右上角弹出通知，小程序端则进入消息中心并显示未读角标，两端都有断线重连机制。另外，主题、语言和主题色保存在账号表里，同一账号在 Web 和小程序上自动保持一致。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进入系统展示。左边是登录页，需要输入账号、密码、图形验证码并选择角色，右上角可以切换语言和深浅色主题。右边是管理员登录后的系统首页，可以看到教务通知、考试安排及考试倒计时，下方是考勤和成绩的统计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这是管理员的数据大屏。顶部是学生数、教师数、课程数、选课人次和登录次数等指标卡，中间是成绩分布、考勤占比、各学院人数、选课热度、教师职称结构和近 7 天登录趋势六张图。后端把 11 条统计查询合并为一个接口，并缓存 30 秒，前端定时刷新。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左边是教师端的成绩管理，教师录入平时分和期末分，系统按 30% 和 70% 的权重自动计算总成绩，并支持导出 Excel；成绩及格后才会累计学分，这部分有 17 个单元测试。右边是首页的考试倒计时，考试时间精确到分钟，三天内显示红色、一周内显示橙色。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这是微信小程序端，共 25 个页面，与 Web 端功能对齐。图中依次是登录页、学生首页（功能入口和今日课程）、我的成绩（平均学分绩点汇总）、考试安排（倒计时）以及「我的」页面，可以切换语言、深浅色主题和主题色，设置会与 Web 端同步。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测试方面，三端共有 304 个单元测试，今天重新运行全部通过：后端 57 个、Web 前端 45 个、小程序 202 个。测试重点放在算法和记账逻辑上，比如学业预警的指标边界和等级阈值、推荐算法的冷启动、选课的满员和时间冲突、成绩学分的记账规则，其中有些用例是专门锁定曾经出现过的缺陷的回归测试。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性能方面，我用 EXPLAIN 验证了索引效果：按教师查成绩、按课程和学生查成绩走 ref，按用户名登录走 const；而没有索引的请假状态查询作为对照组，走的是全表扫描。此外还做了几项优化：请求级用户缓存把一次写请求的账号查询从三四次降到一次；统计计算下推到数据库；大屏和推荐结果做进程内缓存；前端按需引入组件，首屏样式从 355KB 降到 216KB。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总结一下：本课题完成了 Web 端、小程序端和后端三端的设计与实现，构建了较完整的安全体系，实现了课程推荐和学业预警两个算法，并用 304 个单元测试保障核心逻辑。不足之处在于部分状态保存在进程内，目前只适合单实例部署，后续可以引入 Redis 支持集群；推荐算法也可以融合更多特征；小程序还需要备案域名才能正式上线；排课功能可以进一步扩展为自动编排。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我的汇报到此结束，感谢各位老师的聆听，恳请各位老师批评指正。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容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截图页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深色内容页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93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D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21408"/>
            <a:ext cx="6172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2286000"/>
            <a:ext cx="2926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结束页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743200"/>
            <a:ext cx="1036015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image" Target="../media/image-5-2.png"/><Relationship Id="rId8" Type="http://schemas.openxmlformats.org/officeDocument/2006/relationships/image" Target="../media/image-5-8.png"/><Relationship Id="rId9" Type="http://schemas.openxmlformats.org/officeDocument/2006/relationships/image" Target="../media/image-5-2.png"/><Relationship Id="rId10" Type="http://schemas.openxmlformats.org/officeDocument/2006/relationships/image" Target="../media/image-5-2.png"/><Relationship Id="rId11" Type="http://schemas.openxmlformats.org/officeDocument/2006/relationships/image" Target="../media/image-5-2.png"/><Relationship Id="rId12" Type="http://schemas.openxmlformats.org/officeDocument/2006/relationships/image" Target="../media/image-5-2.png"/><Relationship Id="rId13" Type="http://schemas.openxmlformats.org/officeDocument/2006/relationships/image" Target="../media/image-5-2.png"/><Relationship Id="rId14" Type="http://schemas.openxmlformats.org/officeDocument/2006/relationships/image" Target="../media/image-5-2.png"/><Relationship Id="rId15" Type="http://schemas.openxmlformats.org/officeDocument/2006/relationships/image" Target="../media/image-5-15.png"/><Relationship Id="rId16" Type="http://schemas.openxmlformats.org/officeDocument/2006/relationships/image" Target="../media/image-5-2.png"/><Relationship Id="rId17" Type="http://schemas.openxmlformats.org/officeDocument/2006/relationships/image" Target="../media/image-5-2.png"/><Relationship Id="rId18" Type="http://schemas.openxmlformats.org/officeDocument/2006/relationships/image" Target="../media/image-5-2.png"/><Relationship Id="rId19" Type="http://schemas.openxmlformats.org/officeDocument/2006/relationships/image" Target="../media/image-5-2.png"/><Relationship Id="rId20" Type="http://schemas.openxmlformats.org/officeDocument/2006/relationships/image" Target="../media/image-5-2.png"/><Relationship Id="rId21" Type="http://schemas.openxmlformats.org/officeDocument/2006/relationships/image" Target="../media/image-5-2.png"/><Relationship Id="rId22" Type="http://schemas.openxmlformats.org/officeDocument/2006/relationships/image" Target="../media/image-5-2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1.png"/><Relationship Id="rId3" Type="http://schemas.openxmlformats.org/officeDocument/2006/relationships/image" Target="../media/image-21-1.png"/><Relationship Id="rId4" Type="http://schemas.openxmlformats.org/officeDocument/2006/relationships/image" Target="../media/image-21-1.png"/><Relationship Id="rId5" Type="http://schemas.openxmlformats.org/officeDocument/2006/relationships/image" Target="../media/image-21-5.png"/><Relationship Id="rId6" Type="http://schemas.openxmlformats.org/officeDocument/2006/relationships/image" Target="../media/image-21-5.png"/><Relationship Id="rId7" Type="http://schemas.openxmlformats.org/officeDocument/2006/relationships/image" Target="../media/image-21-5.png"/><Relationship Id="rId8" Type="http://schemas.openxmlformats.org/officeDocument/2006/relationships/image" Target="../media/image-21-5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6600" y="0"/>
            <a:ext cx="5105095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" name="Image 0" descr="C:\Users\Administrator\AppData\Local\Temp\claude\D--BISHE-BISHE-Software-manager-vue3\99644240-cb63-4863-810a-499e789ad21e\scratchpad\ppt\icons\illust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7768" y="1069848"/>
            <a:ext cx="4709160" cy="4709160"/>
          </a:xfrm>
          <a:prstGeom prst="rect">
            <a:avLst/>
          </a:prstGeom>
        </p:spPr>
      </p:pic>
      <p:pic>
        <p:nvPicPr>
          <p:cNvPr id="4" name="Image 1" descr="C:\Users\Administrator\AppData\Local\Temp\claude\D--BISHE-BISHE-Software-manager-vue3\99644240-cb63-4863-810a-499e789ad21e\scratchpad\ppt\icons\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58368"/>
            <a:ext cx="457200" cy="457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325880" y="6858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教务管理系统</a:t>
            </a:r>
            <a:pPr indent="0" marL="0">
              <a:buNone/>
            </a:pPr>
            <a:r>
              <a:rPr lang="zh-CN" altLang="en-US" sz="14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Educational Management System</a:t>
            </a:r>
            <a:endParaRPr lang="zh-CN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1627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本科毕业设计（论文）答辩</a:t>
            </a:r>
            <a:endParaRPr lang="zh-CN" sz="15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731520" y="2121408"/>
            <a:ext cx="6172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教务管理系统设计与实现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3858768"/>
            <a:ext cx="6172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  ·  微信小程序端  ·  Spring Boot 统一后端</a:t>
            </a:r>
            <a:endParaRPr lang="zh-CN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6817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</a:t>
            </a:r>
            <a:pPr indent="0" marL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【姓名】</a:t>
            </a:r>
            <a:endParaRPr lang="zh-CN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840480" y="46817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　号：</a:t>
            </a:r>
            <a:pPr indent="0" marL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【学号】</a:t>
            </a:r>
            <a:endParaRPr lang="zh-CN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511149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　院：</a:t>
            </a:r>
            <a:pPr indent="0" marL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【学院名称】</a:t>
            </a:r>
            <a:endParaRPr lang="zh-CN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840480" y="511149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专业班级：</a:t>
            </a:r>
            <a:pPr indent="0" marL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【专业班级】</a:t>
            </a:r>
            <a:endParaRPr lang="zh-CN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55412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</a:t>
            </a:r>
            <a:pPr indent="0" marL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【指导教师】</a:t>
            </a:r>
            <a:endParaRPr lang="zh-CN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840480" y="55412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答辩日期：</a:t>
            </a:r>
            <a:pPr indent="0" marL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【2026 年 X 月 X 日】</a:t>
            </a:r>
            <a:endParaRPr lang="zh-CN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2286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46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spc="600" kern="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zh-CN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658368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577840" y="676656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研究背景与意义</a:t>
            </a:r>
            <a:endParaRPr lang="zh-CN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033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教务管理现状与系统建设目标</a:t>
            </a:r>
            <a:endParaRPr lang="zh-CN" sz="1250" dirty="0"/>
          </a:p>
        </p:txBody>
      </p:sp>
      <p:sp>
        <p:nvSpPr>
          <p:cNvPr id="7" name="Shape 5"/>
          <p:cNvSpPr/>
          <p:nvPr/>
        </p:nvSpPr>
        <p:spPr>
          <a:xfrm>
            <a:off x="4572000" y="1389888"/>
            <a:ext cx="6766560" cy="0"/>
          </a:xfrm>
          <a:prstGeom prst="line">
            <a:avLst/>
          </a:prstGeom>
          <a:noFill/>
          <a:ln w="9525">
            <a:solidFill>
              <a:srgbClr val="EDEF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45389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14721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</a:t>
            </a:r>
            <a:endParaRPr lang="zh-CN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18288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三类角色的功能需求与非功能需求</a:t>
            </a:r>
            <a:endParaRPr lang="zh-CN" sz="1250" dirty="0"/>
          </a:p>
        </p:txBody>
      </p:sp>
      <p:sp>
        <p:nvSpPr>
          <p:cNvPr id="11" name="Shape 9"/>
          <p:cNvSpPr/>
          <p:nvPr/>
        </p:nvSpPr>
        <p:spPr>
          <a:xfrm>
            <a:off x="4572000" y="2185416"/>
            <a:ext cx="6766560" cy="0"/>
          </a:xfrm>
          <a:prstGeom prst="line">
            <a:avLst/>
          </a:prstGeom>
          <a:noFill/>
          <a:ln w="9525">
            <a:solidFill>
              <a:srgbClr val="EDEF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224942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zh-CN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2677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</a:t>
            </a:r>
            <a:endParaRPr lang="zh-CN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26243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总体架构、技术选型、功能模块与数据库</a:t>
            </a:r>
            <a:endParaRPr lang="zh-CN" sz="1250" dirty="0"/>
          </a:p>
        </p:txBody>
      </p:sp>
      <p:sp>
        <p:nvSpPr>
          <p:cNvPr id="15" name="Shape 13"/>
          <p:cNvSpPr/>
          <p:nvPr/>
        </p:nvSpPr>
        <p:spPr>
          <a:xfrm>
            <a:off x="4572000" y="2980944"/>
            <a:ext cx="6766560" cy="0"/>
          </a:xfrm>
          <a:prstGeom prst="line">
            <a:avLst/>
          </a:prstGeom>
          <a:noFill/>
          <a:ln w="9525">
            <a:solidFill>
              <a:srgbClr val="EDEF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04495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zh-CN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06324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关键技术与实现</a:t>
            </a:r>
            <a:endParaRPr lang="zh-CN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4198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权限安全、课程推荐、学业预警、实时通知</a:t>
            </a:r>
            <a:endParaRPr lang="zh-CN" sz="1250" dirty="0"/>
          </a:p>
        </p:txBody>
      </p:sp>
      <p:sp>
        <p:nvSpPr>
          <p:cNvPr id="19" name="Shape 17"/>
          <p:cNvSpPr/>
          <p:nvPr/>
        </p:nvSpPr>
        <p:spPr>
          <a:xfrm>
            <a:off x="4572000" y="3776472"/>
            <a:ext cx="6766560" cy="0"/>
          </a:xfrm>
          <a:prstGeom prst="line">
            <a:avLst/>
          </a:prstGeom>
          <a:noFill/>
          <a:ln w="9525">
            <a:solidFill>
              <a:srgbClr val="EDEF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840480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zh-CN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385876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系统展示</a:t>
            </a:r>
            <a:endParaRPr lang="zh-CN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421538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管理端、数据大屏与微信小程序端</a:t>
            </a:r>
            <a:endParaRPr lang="zh-CN" sz="1250" dirty="0"/>
          </a:p>
        </p:txBody>
      </p:sp>
      <p:sp>
        <p:nvSpPr>
          <p:cNvPr id="23" name="Shape 21"/>
          <p:cNvSpPr/>
          <p:nvPr/>
        </p:nvSpPr>
        <p:spPr>
          <a:xfrm>
            <a:off x="4572000" y="4572000"/>
            <a:ext cx="6766560" cy="0"/>
          </a:xfrm>
          <a:prstGeom prst="line">
            <a:avLst/>
          </a:prstGeom>
          <a:noFill/>
          <a:ln w="9525">
            <a:solidFill>
              <a:srgbClr val="EDEFF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0" y="4636008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zh-CN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4654296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系统测试</a:t>
            </a:r>
            <a:endParaRPr lang="zh-CN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50109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单元测试与查询性能验证</a:t>
            </a:r>
            <a:endParaRPr lang="zh-CN" sz="1250" dirty="0"/>
          </a:p>
        </p:txBody>
      </p:sp>
      <p:sp>
        <p:nvSpPr>
          <p:cNvPr id="27" name="Shape 25"/>
          <p:cNvSpPr/>
          <p:nvPr/>
        </p:nvSpPr>
        <p:spPr>
          <a:xfrm>
            <a:off x="4572000" y="5367528"/>
            <a:ext cx="6766560" cy="0"/>
          </a:xfrm>
          <a:prstGeom prst="line">
            <a:avLst/>
          </a:prstGeom>
          <a:noFill/>
          <a:ln w="9525">
            <a:solidFill>
              <a:srgbClr val="EDEF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0" y="543153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zh-CN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544982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zh-CN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5577840" y="58064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完成情况与后续改进方向</a:t>
            </a:r>
            <a:endParaRPr lang="zh-CN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研究背景与意义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研究背景与意义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37560" cy="219456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92808"/>
            <a:ext cx="566928" cy="56692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6" name="Image 0" descr="C:\Users\Administrator\AppData\Local\Temp\claude\D--BISHE-BISHE-Software-manager-vue3\99644240-cb63-4863-810a-499e789ad21e\scratchpad\ppt\icons\File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53" y="2023201"/>
            <a:ext cx="306141" cy="30614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18928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信息分散</a:t>
            </a:r>
            <a:endParaRPr lang="zh-CN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2432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学院、专业、班级、课程、成绩等数据分散在表格和多个系统中，口径不一，汇总统计费时。</a:t>
            </a:r>
            <a:endParaRPr lang="zh-CN" sz="1400" dirty="0"/>
          </a:p>
        </p:txBody>
      </p:sp>
      <p:sp>
        <p:nvSpPr>
          <p:cNvPr id="9" name="Shape 6"/>
          <p:cNvSpPr/>
          <p:nvPr/>
        </p:nvSpPr>
        <p:spPr>
          <a:xfrm>
            <a:off x="4069080" y="1600200"/>
            <a:ext cx="3337560" cy="219456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43400" y="1892808"/>
            <a:ext cx="566928" cy="56692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1" name="Image 1" descr="C:\Users\Administrator\AppData\Local\Temp\claude\D--BISHE-BISHE-Software-manager-vue3\99644240-cb63-4863-810a-499e789ad21e\scratchpad\ppt\icons\Timer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793" y="2023201"/>
            <a:ext cx="306141" cy="30614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56632" y="18928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流程低效</a:t>
            </a:r>
            <a:endParaRPr lang="zh-CN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262432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请假审批、成绩录入、考勤登记依赖人工传递，结果反馈不及时，也容易出错。</a:t>
            </a:r>
            <a:endParaRPr lang="zh-CN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3337560" cy="219456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4224528"/>
            <a:ext cx="566928" cy="56692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6" name="Image 2" descr="C:\Users\Administrator\AppData\Local\Temp\claude\D--BISHE-BISHE-Software-manager-vue3\99644240-cb63-4863-810a-499e789ad21e\scratchpad\ppt\icons\Iphon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353" y="4354921"/>
            <a:ext cx="306141" cy="30614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36192" y="42245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访问受限</a:t>
            </a:r>
            <a:endParaRPr lang="zh-CN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" y="49560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传统系统以电脑端为主，师生难以随时随地查看课表、成绩和通知。</a:t>
            </a:r>
            <a:endParaRPr lang="zh-CN" sz="1400" dirty="0"/>
          </a:p>
        </p:txBody>
      </p:sp>
      <p:sp>
        <p:nvSpPr>
          <p:cNvPr id="19" name="Shape 14"/>
          <p:cNvSpPr/>
          <p:nvPr/>
        </p:nvSpPr>
        <p:spPr>
          <a:xfrm>
            <a:off x="4069080" y="3931920"/>
            <a:ext cx="3337560" cy="219456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343400" y="4224528"/>
            <a:ext cx="566928" cy="56692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21" name="Image 3" descr="C:\Users\Administrator\AppData\Local\Temp\claude\D--BISHE-BISHE-Software-manager-vue3\99644240-cb63-4863-810a-499e789ad21e\scratchpad\ppt\icons\DataAnalysis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3793" y="4354921"/>
            <a:ext cx="306141" cy="30614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056632" y="42245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缺少数据支撑</a:t>
            </a:r>
            <a:endParaRPr lang="zh-CN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343400" y="49560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难以及早发现成绩下滑、缺勤偏多的学生；选课也缺少个性化参考。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7635240" y="1600200"/>
            <a:ext cx="4007815" cy="4526280"/>
          </a:xfrm>
          <a:prstGeom prst="roundRect">
            <a:avLst>
              <a:gd name="adj" fmla="val 3194"/>
            </a:avLst>
          </a:prstGeom>
          <a:solidFill>
            <a:srgbClr val="1E1B4B"/>
          </a:solidFill>
          <a:ln w="6350">
            <a:solidFill>
              <a:srgbClr val="1E1B4B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955280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研究意义</a:t>
            </a:r>
            <a:endParaRPr lang="zh-CN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7955280" y="24871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8458200" y="24871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统一平台</a:t>
            </a:r>
            <a:endParaRPr lang="zh-CN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8458200" y="287121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zh-CN" altLang="en-US" sz="130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管理端与微信小程序共用一套后端，数据一处维护、多端同步。</a:t>
            </a:r>
            <a:endParaRPr lang="zh-CN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955280" y="367588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458200" y="36758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业务闭环</a:t>
            </a:r>
            <a:endParaRPr lang="zh-CN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8458200" y="40599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zh-CN" altLang="en-US" sz="130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管理员、教师、学生各司其职，选课、成绩、考勤、请假等流程全部线上流转。</a:t>
            </a:r>
            <a:endParaRPr lang="zh-CN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7955280" y="486460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zh-CN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8458200" y="48646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</a:t>
            </a:r>
            <a:endParaRPr lang="zh-CN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8458200" y="52486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zh-CN" altLang="en-US" sz="130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学业预警及早发现风险学生，协同过滤推荐辅助学生选课。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研究内容与主要工作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研究背景与意义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7203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pPr indent="0" marL="0">
              <a:buNone/>
            </a:pPr>
            <a:r>
              <a:rPr lang="zh-CN" altLang="en-US" sz="1500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类</a:t>
            </a:r>
            <a:endParaRPr lang="zh-CN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957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用户角色</a:t>
            </a:r>
            <a:endParaRPr lang="zh-CN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 · 教师 · 学生</a:t>
            </a:r>
            <a:endParaRPr lang="zh-CN" sz="1100" dirty="0"/>
          </a:p>
        </p:txBody>
      </p:sp>
      <p:sp>
        <p:nvSpPr>
          <p:cNvPr id="8" name="Shape 6"/>
          <p:cNvSpPr/>
          <p:nvPr/>
        </p:nvSpPr>
        <p:spPr>
          <a:xfrm>
            <a:off x="2803550" y="1600200"/>
            <a:ext cx="207203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32150" y="171907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zh-CN" altLang="en-US" sz="1500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</a:t>
            </a:r>
            <a:endParaRPr lang="zh-CN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32150" y="23957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</a:t>
            </a:r>
            <a:endParaRPr lang="zh-CN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032150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 · 微信小程序</a:t>
            </a:r>
            <a:endParaRPr lang="zh-CN" sz="1100" dirty="0"/>
          </a:p>
        </p:txBody>
      </p:sp>
      <p:sp>
        <p:nvSpPr>
          <p:cNvPr id="12" name="Shape 10"/>
          <p:cNvSpPr/>
          <p:nvPr/>
        </p:nvSpPr>
        <p:spPr>
          <a:xfrm>
            <a:off x="5058461" y="1600200"/>
            <a:ext cx="207203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87061" y="171907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pPr indent="0" marL="0">
              <a:buNone/>
            </a:pPr>
            <a:r>
              <a:rPr lang="zh-CN" altLang="en-US" sz="1500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张</a:t>
            </a:r>
            <a:endParaRPr lang="zh-CN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87061" y="23957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数据表</a:t>
            </a:r>
            <a:endParaRPr lang="zh-CN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287061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张业务表 + 5 张系统表</a:t>
            </a:r>
            <a:endParaRPr lang="zh-CN" sz="1100" dirty="0"/>
          </a:p>
        </p:txBody>
      </p:sp>
      <p:sp>
        <p:nvSpPr>
          <p:cNvPr id="16" name="Shape 14"/>
          <p:cNvSpPr/>
          <p:nvPr/>
        </p:nvSpPr>
        <p:spPr>
          <a:xfrm>
            <a:off x="7313371" y="1600200"/>
            <a:ext cx="207203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41971" y="171907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pPr indent="0" marL="0">
              <a:buNone/>
            </a:pPr>
            <a:r>
              <a:rPr lang="zh-CN" altLang="en-US" sz="1500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</a:t>
            </a:r>
            <a:endParaRPr lang="zh-CN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41971" y="23957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小程序页面</a:t>
            </a:r>
            <a:endParaRPr lang="zh-CN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541971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主包 19 个 + 管理分包 6 个</a:t>
            </a:r>
            <a:endParaRPr lang="zh-CN" sz="1100" dirty="0"/>
          </a:p>
        </p:txBody>
      </p:sp>
      <p:sp>
        <p:nvSpPr>
          <p:cNvPr id="20" name="Shape 18"/>
          <p:cNvSpPr/>
          <p:nvPr/>
        </p:nvSpPr>
        <p:spPr>
          <a:xfrm>
            <a:off x="9568282" y="1600200"/>
            <a:ext cx="207203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96882" y="171907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304</a:t>
            </a:r>
            <a:pPr indent="0" marL="0">
              <a:buNone/>
            </a:pPr>
            <a:r>
              <a:rPr lang="zh-CN" altLang="en-US" sz="1500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</a:t>
            </a:r>
            <a:endParaRPr lang="zh-C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796882" y="23957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zh-CN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96882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三端实测全部通过</a:t>
            </a:r>
            <a:endParaRPr lang="zh-CN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545531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04672" y="3767328"/>
            <a:ext cx="457200" cy="457200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zh-CN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44752" y="37216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三端协同的系统实现</a:t>
            </a:r>
            <a:endParaRPr lang="zh-CN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44752" y="41239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统一后端 + Vue 3 Web 端 + uni-app 小程序，覆盖 20 余个教务功能模块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6186830" y="3520440"/>
            <a:ext cx="545531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42862" y="3767328"/>
            <a:ext cx="457200" cy="457200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zh-CN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082942" y="37216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安全与权限体系</a:t>
            </a:r>
            <a:endParaRPr lang="zh-CN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082942" y="41239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+ BCrypt + 验证码与登录锁定；RBAC 权限在线配置，路由、菜单、按钮、接口四层把关</a:t>
            </a:r>
            <a:endParaRPr lang="zh-CN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892040"/>
            <a:ext cx="545531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04672" y="5138928"/>
            <a:ext cx="457200" cy="457200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zh-CN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1444752" y="50932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两个数据算法</a:t>
            </a:r>
            <a:endParaRPr lang="zh-CN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444752" y="54955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基于物品的协同过滤课程推荐；融合成绩与考勤的多指标加权学业预警模型</a:t>
            </a:r>
            <a:endParaRPr lang="zh-CN" sz="1300" dirty="0"/>
          </a:p>
        </p:txBody>
      </p:sp>
      <p:sp>
        <p:nvSpPr>
          <p:cNvPr id="36" name="Shape 34"/>
          <p:cNvSpPr/>
          <p:nvPr/>
        </p:nvSpPr>
        <p:spPr>
          <a:xfrm>
            <a:off x="6186830" y="4892040"/>
            <a:ext cx="545531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42862" y="5138928"/>
            <a:ext cx="457200" cy="457200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zh-CN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082942" y="50932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体验与工程化</a:t>
            </a:r>
            <a:endParaRPr lang="zh-CN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7082942" y="54955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WebSocket 实时通知，中英文与深浅色主题多端同步；通用 CRUD 框架，Docker 一键部署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功能需求分析：三类角色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需求分析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46043" cy="388620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56232"/>
            <a:ext cx="640080" cy="64008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6" name="Image 0" descr="C:\Users\Administrator\AppData\Local\Temp\claude\D--BISHE-BISHE-Software-manager-vue3\99644240-cb63-4863-810a-499e789ad21e\scratchpad\ppt\icons\Setting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178" y="2003450"/>
            <a:ext cx="345643" cy="3456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27632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</a:t>
            </a:r>
            <a:endParaRPr lang="zh-CN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627632" y="2221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基础数据与系统维护</a:t>
            </a:r>
            <a:endParaRPr lang="zh-CN" sz="1200" dirty="0"/>
          </a:p>
        </p:txBody>
      </p:sp>
      <p:pic>
        <p:nvPicPr>
          <p:cNvPr id="9" name="Image 1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852928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52144" y="27889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 / 专业 / 班级档案维护</a:t>
            </a:r>
            <a:endParaRPr lang="zh-CN" sz="1400" dirty="0"/>
          </a:p>
        </p:txBody>
      </p:sp>
      <p:pic>
        <p:nvPicPr>
          <p:cNvPr id="11" name="Image 2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28269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52144" y="32186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账号管理与 Excel 批量导入</a:t>
            </a:r>
            <a:endParaRPr lang="zh-CN" sz="1400" dirty="0"/>
          </a:p>
        </p:txBody>
      </p:sp>
      <p:pic>
        <p:nvPicPr>
          <p:cNvPr id="13" name="Image 3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712464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52144" y="36484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课程排课与教室分配</a:t>
            </a:r>
            <a:endParaRPr lang="zh-CN" sz="1400" dirty="0"/>
          </a:p>
        </p:txBody>
      </p:sp>
      <p:pic>
        <p:nvPicPr>
          <p:cNvPr id="15" name="Image 4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142232"/>
            <a:ext cx="201168" cy="20116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52144" y="40782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教务通知、考试安排发布</a:t>
            </a:r>
            <a:endParaRPr lang="zh-CN" sz="1400" dirty="0"/>
          </a:p>
        </p:txBody>
      </p:sp>
      <p:pic>
        <p:nvPicPr>
          <p:cNvPr id="17" name="Image 5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572000"/>
            <a:ext cx="201168" cy="20116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152144" y="45079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请假审核（结果实时推送）</a:t>
            </a:r>
            <a:endParaRPr lang="zh-CN" sz="1400" dirty="0"/>
          </a:p>
        </p:txBody>
      </p:sp>
      <p:pic>
        <p:nvPicPr>
          <p:cNvPr id="19" name="Image 6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5001768"/>
            <a:ext cx="201168" cy="201168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152144" y="49377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权限设置与日志审计</a:t>
            </a:r>
            <a:endParaRPr lang="zh-CN" sz="1400" dirty="0"/>
          </a:p>
        </p:txBody>
      </p:sp>
      <p:sp>
        <p:nvSpPr>
          <p:cNvPr id="21" name="Shape 12"/>
          <p:cNvSpPr/>
          <p:nvPr/>
        </p:nvSpPr>
        <p:spPr>
          <a:xfrm>
            <a:off x="4323283" y="1600200"/>
            <a:ext cx="3546043" cy="388620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22" name="Shape 13"/>
          <p:cNvSpPr/>
          <p:nvPr/>
        </p:nvSpPr>
        <p:spPr>
          <a:xfrm>
            <a:off x="4597603" y="1856232"/>
            <a:ext cx="640080" cy="64008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23" name="Image 7" descr="C:\Users\Administrator\AppData\Local\Temp\claude\D--BISHE-BISHE-Software-manager-vue3\99644240-cb63-4863-810a-499e789ad21e\scratchpad\ppt\icons\Reading_FFFF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4822" y="2003450"/>
            <a:ext cx="345643" cy="345643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402275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</a:t>
            </a:r>
            <a:endParaRPr lang="zh-CN" sz="2000" dirty="0"/>
          </a:p>
        </p:txBody>
      </p:sp>
      <p:sp>
        <p:nvSpPr>
          <p:cNvPr id="25" name="Text 15"/>
          <p:cNvSpPr txBox="1"/>
          <p:nvPr/>
        </p:nvSpPr>
        <p:spPr>
          <a:xfrm>
            <a:off x="5402275" y="2221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教学过程管理</a:t>
            </a:r>
            <a:endParaRPr lang="zh-CN" sz="1200" dirty="0"/>
          </a:p>
        </p:txBody>
      </p:sp>
      <p:pic>
        <p:nvPicPr>
          <p:cNvPr id="26" name="Image 8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5891" y="2852928"/>
            <a:ext cx="201168" cy="201168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4926787" y="27889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查看任课课程与选课学生</a:t>
            </a:r>
            <a:endParaRPr lang="zh-CN" sz="1400" dirty="0"/>
          </a:p>
        </p:txBody>
      </p:sp>
      <p:pic>
        <p:nvPicPr>
          <p:cNvPr id="28" name="Image 9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5891" y="3282696"/>
            <a:ext cx="201168" cy="201168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4926787" y="32186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成绩录入（平时 30% + 期末 70%）</a:t>
            </a:r>
            <a:endParaRPr lang="zh-CN" sz="1400" dirty="0"/>
          </a:p>
        </p:txBody>
      </p:sp>
      <p:pic>
        <p:nvPicPr>
          <p:cNvPr id="30" name="Image 10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5891" y="3712464"/>
            <a:ext cx="201168" cy="201168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4926787" y="36484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考勤登记与统计</a:t>
            </a:r>
            <a:endParaRPr lang="zh-CN" sz="1400" dirty="0"/>
          </a:p>
        </p:txBody>
      </p:sp>
      <p:pic>
        <p:nvPicPr>
          <p:cNvPr id="32" name="Image 11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15891" y="4142232"/>
            <a:ext cx="201168" cy="201168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4926787" y="40782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作业批改打分</a:t>
            </a:r>
            <a:endParaRPr lang="zh-CN" sz="1400" dirty="0"/>
          </a:p>
        </p:txBody>
      </p:sp>
      <p:pic>
        <p:nvPicPr>
          <p:cNvPr id="34" name="Image 12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15891" y="4572000"/>
            <a:ext cx="201168" cy="201168"/>
          </a:xfrm>
          <a:prstGeom prst="rect">
            <a:avLst/>
          </a:prstGeom>
        </p:spPr>
      </p:pic>
      <p:sp>
        <p:nvSpPr>
          <p:cNvPr id="35" name="Text 20"/>
          <p:cNvSpPr txBox="1"/>
          <p:nvPr/>
        </p:nvSpPr>
        <p:spPr>
          <a:xfrm>
            <a:off x="4926787" y="45079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查看学生评教</a:t>
            </a:r>
            <a:endParaRPr lang="zh-CN" sz="1400" dirty="0"/>
          </a:p>
        </p:txBody>
      </p:sp>
      <p:pic>
        <p:nvPicPr>
          <p:cNvPr id="36" name="Image 13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15891" y="5001768"/>
            <a:ext cx="201168" cy="201168"/>
          </a:xfrm>
          <a:prstGeom prst="rect">
            <a:avLst/>
          </a:prstGeom>
        </p:spPr>
      </p:pic>
      <p:sp>
        <p:nvSpPr>
          <p:cNvPr id="37" name="Text 21"/>
          <p:cNvSpPr txBox="1"/>
          <p:nvPr/>
        </p:nvSpPr>
        <p:spPr>
          <a:xfrm>
            <a:off x="4926787" y="49377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学业预警跟踪与提醒</a:t>
            </a:r>
            <a:endParaRPr lang="zh-CN" sz="1400" dirty="0"/>
          </a:p>
        </p:txBody>
      </p:sp>
      <p:sp>
        <p:nvSpPr>
          <p:cNvPr id="38" name="Shape 22"/>
          <p:cNvSpPr/>
          <p:nvPr/>
        </p:nvSpPr>
        <p:spPr>
          <a:xfrm>
            <a:off x="8097926" y="1600200"/>
            <a:ext cx="3546043" cy="388620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39" name="Shape 23"/>
          <p:cNvSpPr/>
          <p:nvPr/>
        </p:nvSpPr>
        <p:spPr>
          <a:xfrm>
            <a:off x="8372246" y="1856232"/>
            <a:ext cx="640080" cy="64008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40" name="Image 14" descr="C:\Users\Administrator\AppData\Local\Temp\claude\D--BISHE-BISHE-Software-manager-vue3\99644240-cb63-4863-810a-499e789ad21e\scratchpad\ppt\icons\School_FFFFFF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19465" y="2003450"/>
            <a:ext cx="345643" cy="345643"/>
          </a:xfrm>
          <a:prstGeom prst="rect">
            <a:avLst/>
          </a:prstGeom>
        </p:spPr>
      </p:pic>
      <p:sp>
        <p:nvSpPr>
          <p:cNvPr id="41" name="Text 24"/>
          <p:cNvSpPr txBox="1"/>
          <p:nvPr/>
        </p:nvSpPr>
        <p:spPr>
          <a:xfrm>
            <a:off x="9176918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</a:t>
            </a:r>
            <a:endParaRPr lang="zh-CN" sz="2000" dirty="0"/>
          </a:p>
        </p:txBody>
      </p:sp>
      <p:sp>
        <p:nvSpPr>
          <p:cNvPr id="42" name="Text 25"/>
          <p:cNvSpPr txBox="1"/>
          <p:nvPr/>
        </p:nvSpPr>
        <p:spPr>
          <a:xfrm>
            <a:off x="9176918" y="2221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学习事务办理</a:t>
            </a:r>
            <a:endParaRPr lang="zh-CN" sz="1200" dirty="0"/>
          </a:p>
        </p:txBody>
      </p:sp>
      <p:pic>
        <p:nvPicPr>
          <p:cNvPr id="43" name="Image 15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0534" y="2852928"/>
            <a:ext cx="201168" cy="201168"/>
          </a:xfrm>
          <a:prstGeom prst="rect">
            <a:avLst/>
          </a:prstGeom>
        </p:spPr>
      </p:pic>
      <p:sp>
        <p:nvSpPr>
          <p:cNvPr id="44" name="Text 26"/>
          <p:cNvSpPr txBox="1"/>
          <p:nvPr/>
        </p:nvSpPr>
        <p:spPr>
          <a:xfrm>
            <a:off x="8701430" y="27889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 / 退课（冲突与满员校验）</a:t>
            </a:r>
            <a:endParaRPr lang="zh-CN" sz="1400" dirty="0"/>
          </a:p>
        </p:txBody>
      </p:sp>
      <p:pic>
        <p:nvPicPr>
          <p:cNvPr id="45" name="Image 16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0534" y="3282696"/>
            <a:ext cx="201168" cy="201168"/>
          </a:xfrm>
          <a:prstGeom prst="rect">
            <a:avLst/>
          </a:prstGeom>
        </p:spPr>
      </p:pic>
      <p:sp>
        <p:nvSpPr>
          <p:cNvPr id="46" name="Text 27"/>
          <p:cNvSpPr txBox="1"/>
          <p:nvPr/>
        </p:nvSpPr>
        <p:spPr>
          <a:xfrm>
            <a:off x="8701430" y="32186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查看我的课表</a:t>
            </a:r>
            <a:endParaRPr lang="zh-CN" sz="1400" dirty="0"/>
          </a:p>
        </p:txBody>
      </p:sp>
      <p:pic>
        <p:nvPicPr>
          <p:cNvPr id="47" name="Image 17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90534" y="3712464"/>
            <a:ext cx="201168" cy="201168"/>
          </a:xfrm>
          <a:prstGeom prst="rect">
            <a:avLst/>
          </a:prstGeom>
        </p:spPr>
      </p:pic>
      <p:sp>
        <p:nvSpPr>
          <p:cNvPr id="48" name="Text 28"/>
          <p:cNvSpPr txBox="1"/>
          <p:nvPr/>
        </p:nvSpPr>
        <p:spPr>
          <a:xfrm>
            <a:off x="8701430" y="36484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查询成绩与考勤</a:t>
            </a:r>
            <a:endParaRPr lang="zh-CN" sz="1400" dirty="0"/>
          </a:p>
        </p:txBody>
      </p:sp>
      <p:pic>
        <p:nvPicPr>
          <p:cNvPr id="49" name="Image 18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90534" y="4142232"/>
            <a:ext cx="201168" cy="201168"/>
          </a:xfrm>
          <a:prstGeom prst="rect">
            <a:avLst/>
          </a:prstGeom>
        </p:spPr>
      </p:pic>
      <p:sp>
        <p:nvSpPr>
          <p:cNvPr id="50" name="Text 29"/>
          <p:cNvSpPr txBox="1"/>
          <p:nvPr/>
        </p:nvSpPr>
        <p:spPr>
          <a:xfrm>
            <a:off x="8701430" y="40782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提交作业（附件上传）</a:t>
            </a:r>
            <a:endParaRPr lang="zh-CN" sz="1400" dirty="0"/>
          </a:p>
        </p:txBody>
      </p:sp>
      <p:pic>
        <p:nvPicPr>
          <p:cNvPr id="51" name="Image 19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90534" y="4572000"/>
            <a:ext cx="201168" cy="201168"/>
          </a:xfrm>
          <a:prstGeom prst="rect">
            <a:avLst/>
          </a:prstGeom>
        </p:spPr>
      </p:pic>
      <p:sp>
        <p:nvSpPr>
          <p:cNvPr id="52" name="Text 30"/>
          <p:cNvSpPr txBox="1"/>
          <p:nvPr/>
        </p:nvSpPr>
        <p:spPr>
          <a:xfrm>
            <a:off x="8701430" y="45079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请假申请与撤销</a:t>
            </a:r>
            <a:endParaRPr lang="zh-CN" sz="1400" dirty="0"/>
          </a:p>
        </p:txBody>
      </p:sp>
      <p:pic>
        <p:nvPicPr>
          <p:cNvPr id="53" name="Image 20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90534" y="5001768"/>
            <a:ext cx="201168" cy="201168"/>
          </a:xfrm>
          <a:prstGeom prst="rect">
            <a:avLst/>
          </a:prstGeom>
        </p:spPr>
      </p:pic>
      <p:sp>
        <p:nvSpPr>
          <p:cNvPr id="54" name="Text 31"/>
          <p:cNvSpPr txBox="1"/>
          <p:nvPr/>
        </p:nvSpPr>
        <p:spPr>
          <a:xfrm>
            <a:off x="8701430" y="49377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网上评教与课程推荐</a:t>
            </a:r>
            <a:endParaRPr lang="zh-CN" sz="1400" dirty="0"/>
          </a:p>
        </p:txBody>
      </p:sp>
      <p:sp>
        <p:nvSpPr>
          <p:cNvPr id="55" name="Shape 32"/>
          <p:cNvSpPr/>
          <p:nvPr/>
        </p:nvSpPr>
        <p:spPr>
          <a:xfrm>
            <a:off x="548640" y="5641848"/>
            <a:ext cx="11094415" cy="530352"/>
          </a:xfrm>
          <a:prstGeom prst="roundRect">
            <a:avLst>
              <a:gd name="adj" fmla="val 17241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56" name="Shape 33"/>
          <p:cNvSpPr/>
          <p:nvPr/>
        </p:nvSpPr>
        <p:spPr>
          <a:xfrm>
            <a:off x="731520" y="5733288"/>
            <a:ext cx="347472" cy="347472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57" name="Image 21" descr="C:\Users\Administrator\AppData\Local\Temp\claude\D--BISHE-BISHE-Software-manager-vue3\99644240-cb63-4863-810a-499e789ad21e\scratchpad\ppt\icons\Lock_FFFFFF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11439" y="5813207"/>
            <a:ext cx="187635" cy="187635"/>
          </a:xfrm>
          <a:prstGeom prst="rect">
            <a:avLst/>
          </a:prstGeom>
        </p:spPr>
      </p:pic>
      <p:sp>
        <p:nvSpPr>
          <p:cNvPr id="58" name="Text 34"/>
          <p:cNvSpPr txBox="1"/>
          <p:nvPr/>
        </p:nvSpPr>
        <p:spPr>
          <a:xfrm>
            <a:off x="1234440" y="564184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数据隔离：</a:t>
            </a:r>
            <a:pPr indent="0" marL="0">
              <a:buNone/>
            </a:pPr>
            <a:r>
              <a:rPr lang="zh-CN" altLang="en-US" sz="13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管理员可见全部数据；教师只看本人任课课程的成绩、考勤、作业与评教；学生只看本人数据</a:t>
            </a:r>
            <a:endParaRPr lang="zh-CN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非功能需求分析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需求分析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72030" cy="3749040"/>
          </a:xfrm>
          <a:prstGeom prst="roundRect">
            <a:avLst>
              <a:gd name="adj" fmla="val 529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6" name="Image 0" descr="C:\Users\Administrator\AppData\Local\Temp\claude\D--BISHE-BISHE-Software-manager-vue3\99644240-cb63-4863-810a-499e789ad21e\scratchpad\ppt\icons\Lock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385" y="2025945"/>
            <a:ext cx="355519" cy="3555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249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安全性</a:t>
            </a:r>
            <a:endParaRPr lang="zh-CN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73552"/>
            <a:ext cx="17007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令牌认证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BCrypt 密码哈希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图形验证码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连续失败自动锁定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接口级 RBAC 鉴权</a:t>
            </a:r>
            <a:endParaRPr lang="zh-CN" sz="1300" dirty="0"/>
          </a:p>
        </p:txBody>
      </p:sp>
      <p:sp>
        <p:nvSpPr>
          <p:cNvPr id="9" name="Shape 6"/>
          <p:cNvSpPr/>
          <p:nvPr/>
        </p:nvSpPr>
        <p:spPr>
          <a:xfrm>
            <a:off x="2803550" y="1600200"/>
            <a:ext cx="2072030" cy="3749040"/>
          </a:xfrm>
          <a:prstGeom prst="roundRect">
            <a:avLst>
              <a:gd name="adj" fmla="val 529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77870" y="1874520"/>
            <a:ext cx="658368" cy="65836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1" name="Image 1" descr="C:\Users\Administrator\AppData\Local\Temp\claude\D--BISHE-BISHE-Software-manager-vue3\99644240-cb63-4863-810a-499e789ad21e\scratchpad\ppt\icons\Pointer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295" y="2025945"/>
            <a:ext cx="355519" cy="35551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77870" y="27249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易用性</a:t>
            </a:r>
            <a:endParaRPr lang="zh-CN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077870" y="3273552"/>
            <a:ext cx="17007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中英文一键切换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深浅色与跟随系统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按账号保存主题色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手机上随时办理</a:t>
            </a:r>
            <a:endParaRPr lang="zh-CN" sz="1300" dirty="0"/>
          </a:p>
        </p:txBody>
      </p:sp>
      <p:sp>
        <p:nvSpPr>
          <p:cNvPr id="14" name="Shape 10"/>
          <p:cNvSpPr/>
          <p:nvPr/>
        </p:nvSpPr>
        <p:spPr>
          <a:xfrm>
            <a:off x="5058461" y="1600200"/>
            <a:ext cx="2072030" cy="3749040"/>
          </a:xfrm>
          <a:prstGeom prst="roundRect">
            <a:avLst>
              <a:gd name="adj" fmla="val 529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332781" y="1874520"/>
            <a:ext cx="658368" cy="65836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6" name="Image 2" descr="C:\Users\Administrator\AppData\Local\Temp\claude\D--BISHE-BISHE-Software-manager-vue3\99644240-cb63-4863-810a-499e789ad21e\scratchpad\ppt\icons\Tools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4205" y="2025945"/>
            <a:ext cx="355519" cy="35551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32781" y="27249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可维护性</a:t>
            </a:r>
            <a:endParaRPr lang="zh-CN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332781" y="3273552"/>
            <a:ext cx="17007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 CRUD 框架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个管理页共用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统一返回体与错误码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Knife4j 接口文档</a:t>
            </a:r>
            <a:endParaRPr lang="zh-CN" sz="1300" dirty="0"/>
          </a:p>
        </p:txBody>
      </p:sp>
      <p:sp>
        <p:nvSpPr>
          <p:cNvPr id="19" name="Shape 14"/>
          <p:cNvSpPr/>
          <p:nvPr/>
        </p:nvSpPr>
        <p:spPr>
          <a:xfrm>
            <a:off x="7313371" y="1600200"/>
            <a:ext cx="2072030" cy="3749040"/>
          </a:xfrm>
          <a:prstGeom prst="roundRect">
            <a:avLst>
              <a:gd name="adj" fmla="val 529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587691" y="1874520"/>
            <a:ext cx="658368" cy="65836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21" name="Image 3" descr="C:\Users\Administrator\AppData\Local\Temp\claude\D--BISHE-BISHE-Software-manager-vue3\99644240-cb63-4863-810a-499e789ad21e\scratchpad\ppt\icons\Odometer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116" y="2025945"/>
            <a:ext cx="355519" cy="35551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87691" y="27249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高性能</a:t>
            </a:r>
            <a:endParaRPr lang="zh-CN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587691" y="3273552"/>
            <a:ext cx="17007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高频查询建二级索引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统计下推数据库聚合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大屏结果缓存 30 秒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推荐结果缓存 60 秒</a:t>
            </a:r>
            <a:endParaRPr lang="zh-CN" sz="1300" dirty="0"/>
          </a:p>
        </p:txBody>
      </p:sp>
      <p:sp>
        <p:nvSpPr>
          <p:cNvPr id="24" name="Shape 18"/>
          <p:cNvSpPr/>
          <p:nvPr/>
        </p:nvSpPr>
        <p:spPr>
          <a:xfrm>
            <a:off x="9568282" y="1600200"/>
            <a:ext cx="2072030" cy="3749040"/>
          </a:xfrm>
          <a:prstGeom prst="roundRect">
            <a:avLst>
              <a:gd name="adj" fmla="val 5296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842602" y="1874520"/>
            <a:ext cx="658368" cy="65836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26" name="Image 4" descr="C:\Users\Administrator\AppData\Local\Temp\claude\D--BISHE-BISHE-Software-manager-vue3\99644240-cb63-4863-810a-499e789ad21e\scratchpad\ppt\icons\Box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026" y="2025945"/>
            <a:ext cx="355519" cy="355519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842602" y="27249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易部署</a:t>
            </a:r>
            <a:endParaRPr lang="zh-CN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9842602" y="3273552"/>
            <a:ext cx="17007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容器编排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数据库、后端、前端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一条命令启动</a:t>
            </a:r>
            <a:endParaRPr lang="zh-CN" sz="1300" dirty="0"/>
          </a:p>
          <a:p>
            <a:pPr marL="139700" indent="-139700">
              <a:spcAft>
                <a:spcPts val="9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自动建库并导入数据</a:t>
            </a:r>
            <a:endParaRPr lang="zh-CN" sz="1300" dirty="0"/>
          </a:p>
        </p:txBody>
      </p:sp>
      <p:sp>
        <p:nvSpPr>
          <p:cNvPr id="29" name="Text 22"/>
          <p:cNvSpPr/>
          <p:nvPr/>
        </p:nvSpPr>
        <p:spPr>
          <a:xfrm>
            <a:off x="548640" y="555955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1E1B4B"/>
          </a:solidFill>
          <a:ln>
            <a:solidFill>
              <a:srgbClr val="1E1B4B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设计目标：</a:t>
            </a:r>
            <a:pPr algn="ctr" indent="0" marL="0">
              <a:buNone/>
            </a:pPr>
            <a:r>
              <a:rPr lang="zh-CN" alt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安全可靠  ·  简单易用  ·  易于维护  ·  运行高效  ·  部署便捷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系统总体架构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系统设计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97280" cy="914400"/>
          </a:xfrm>
          <a:prstGeom prst="roundRect">
            <a:avLst>
              <a:gd name="adj" fmla="val 8000"/>
            </a:avLst>
          </a:prstGeom>
          <a:solidFill>
            <a:srgbClr val="1E1B4B"/>
          </a:solidFill>
          <a:ln>
            <a:solidFill>
              <a:srgbClr val="1E1B4B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表现层</a:t>
            </a:r>
            <a:endParaRPr lang="zh-CN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1097280" cy="530352"/>
          </a:xfrm>
          <a:prstGeom prst="roundRect">
            <a:avLst>
              <a:gd name="adj" fmla="val 13793"/>
            </a:avLst>
          </a:prstGeom>
          <a:solidFill>
            <a:srgbClr val="1E1B4B"/>
          </a:solidFill>
          <a:ln>
            <a:solidFill>
              <a:srgbClr val="1E1B4B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接入层</a:t>
            </a:r>
            <a:endParaRPr lang="zh-CN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1097280" cy="1691640"/>
          </a:xfrm>
          <a:prstGeom prst="roundRect">
            <a:avLst>
              <a:gd name="adj" fmla="val 6667"/>
            </a:avLst>
          </a:prstGeom>
          <a:solidFill>
            <a:srgbClr val="1E1B4B"/>
          </a:solidFill>
          <a:ln>
            <a:solidFill>
              <a:srgbClr val="1E1B4B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业务层</a:t>
            </a:r>
            <a:endParaRPr lang="zh-CN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5458968"/>
            <a:ext cx="1097280" cy="713232"/>
          </a:xfrm>
          <a:prstGeom prst="roundRect">
            <a:avLst>
              <a:gd name="adj" fmla="val 10256"/>
            </a:avLst>
          </a:prstGeom>
          <a:solidFill>
            <a:srgbClr val="1E1B4B"/>
          </a:solidFill>
          <a:ln>
            <a:solidFill>
              <a:srgbClr val="1E1B4B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</a:t>
            </a:r>
            <a:endParaRPr lang="zh-CN" sz="1400" dirty="0"/>
          </a:p>
        </p:txBody>
      </p:sp>
      <p:sp>
        <p:nvSpPr>
          <p:cNvPr id="8" name="Shape 6"/>
          <p:cNvSpPr/>
          <p:nvPr/>
        </p:nvSpPr>
        <p:spPr>
          <a:xfrm>
            <a:off x="1874520" y="1572768"/>
            <a:ext cx="479419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103120" y="1773936"/>
            <a:ext cx="512064" cy="512064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0" name="Image 0" descr="C:\Users\Administrator\AppData\Local\Temp\claude\D--BISHE-BISHE-Software-manager-vue3\99644240-cb63-4863-810a-499e789ad21e\scratchpad\ppt\icons\Monitor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0895" y="1891711"/>
            <a:ext cx="276515" cy="27651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770632" y="16459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</a:t>
            </a:r>
            <a:endParaRPr lang="zh-CN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770632" y="20116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· TypeScript · Element Plus · Pinia · ECharts</a:t>
            </a:r>
            <a:endParaRPr lang="zh-CN" sz="1150" dirty="0"/>
          </a:p>
        </p:txBody>
      </p:sp>
      <p:sp>
        <p:nvSpPr>
          <p:cNvPr id="13" name="Shape 10"/>
          <p:cNvSpPr/>
          <p:nvPr/>
        </p:nvSpPr>
        <p:spPr>
          <a:xfrm>
            <a:off x="6848856" y="1572768"/>
            <a:ext cx="479419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077456" y="1773936"/>
            <a:ext cx="512064" cy="512064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5" name="Image 1" descr="C:\Users\Administrator\AppData\Local\Temp\claude\D--BISHE-BISHE-Software-manager-vue3\99644240-cb63-4863-810a-499e789ad21e\scratchpad\ppt\icons\Iphon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231" y="1891711"/>
            <a:ext cx="276515" cy="27651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44968" y="16459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微信小程序端</a:t>
            </a:r>
            <a:endParaRPr lang="zh-CN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7744968" y="20116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uni-app（Vue 3）· Pinia · 自研 i18n · WebSocket</a:t>
            </a:r>
            <a:endParaRPr lang="zh-CN" sz="1150" dirty="0"/>
          </a:p>
        </p:txBody>
      </p:sp>
      <p:sp>
        <p:nvSpPr>
          <p:cNvPr id="18" name="Shape 14"/>
          <p:cNvSpPr/>
          <p:nvPr/>
        </p:nvSpPr>
        <p:spPr>
          <a:xfrm>
            <a:off x="4270248" y="2505456"/>
            <a:ext cx="0" cy="310896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9" name="Text 15"/>
          <p:cNvSpPr txBox="1"/>
          <p:nvPr/>
        </p:nvSpPr>
        <p:spPr>
          <a:xfrm>
            <a:off x="4800600" y="2514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 / JSON  ·  WebSocket  ·  JWT 令牌</a:t>
            </a:r>
            <a:endParaRPr lang="zh-CN" sz="1150" dirty="0"/>
          </a:p>
        </p:txBody>
      </p:sp>
      <p:sp>
        <p:nvSpPr>
          <p:cNvPr id="20" name="Shape 16"/>
          <p:cNvSpPr/>
          <p:nvPr/>
        </p:nvSpPr>
        <p:spPr>
          <a:xfrm>
            <a:off x="9244584" y="2505456"/>
            <a:ext cx="0" cy="1042416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9372600" y="2907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直连后端接口</a:t>
            </a:r>
            <a:endParaRPr lang="zh-CN" sz="1150" dirty="0"/>
          </a:p>
        </p:txBody>
      </p:sp>
      <p:sp>
        <p:nvSpPr>
          <p:cNvPr id="22" name="Text 18"/>
          <p:cNvSpPr/>
          <p:nvPr/>
        </p:nvSpPr>
        <p:spPr>
          <a:xfrm>
            <a:off x="1874520" y="2834640"/>
            <a:ext cx="4794199" cy="530352"/>
          </a:xfrm>
          <a:prstGeom prst="roundRect">
            <a:avLst>
              <a:gd name="adj" fmla="val 13793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nginx</a:t>
            </a:r>
            <a:pPr algn="ctr"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静态资源托管 + /api 反向代理（Docker 部署）</a:t>
            </a:r>
            <a:endParaRPr lang="zh-CN" sz="1250" dirty="0"/>
          </a:p>
        </p:txBody>
      </p:sp>
      <p:sp>
        <p:nvSpPr>
          <p:cNvPr id="23" name="Shape 19"/>
          <p:cNvSpPr/>
          <p:nvPr/>
        </p:nvSpPr>
        <p:spPr>
          <a:xfrm>
            <a:off x="4270248" y="3383280"/>
            <a:ext cx="0" cy="164592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1874520" y="3566160"/>
            <a:ext cx="9768535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103120" y="36393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2.7 后端服务（端口 9091）</a:t>
            </a:r>
            <a:endParaRPr lang="zh-CN" sz="1350" dirty="0"/>
          </a:p>
        </p:txBody>
      </p:sp>
      <p:sp>
        <p:nvSpPr>
          <p:cNvPr id="26" name="Text 22"/>
          <p:cNvSpPr/>
          <p:nvPr/>
        </p:nvSpPr>
        <p:spPr>
          <a:xfrm>
            <a:off x="2057400" y="4041648"/>
            <a:ext cx="1874520" cy="457200"/>
          </a:xfrm>
          <a:prstGeom prst="roundRect">
            <a:avLst>
              <a:gd name="adj" fmla="val 16000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JwtInterceptor 令牌校验</a:t>
            </a:r>
            <a:endParaRPr lang="zh-CN" sz="1200" dirty="0"/>
          </a:p>
        </p:txBody>
      </p:sp>
      <p:sp>
        <p:nvSpPr>
          <p:cNvPr id="27" name="Shape 23"/>
          <p:cNvSpPr/>
          <p:nvPr/>
        </p:nvSpPr>
        <p:spPr>
          <a:xfrm>
            <a:off x="3968496" y="4270248"/>
            <a:ext cx="201168" cy="0"/>
          </a:xfrm>
          <a:prstGeom prst="line">
            <a:avLst/>
          </a:prstGeom>
          <a:noFill/>
          <a:ln w="127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8" name="Text 24"/>
          <p:cNvSpPr/>
          <p:nvPr/>
        </p:nvSpPr>
        <p:spPr>
          <a:xfrm>
            <a:off x="4206240" y="404164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PermissionAspect 权限判定</a:t>
            </a:r>
            <a:endParaRPr lang="zh-CN" sz="1200" dirty="0"/>
          </a:p>
        </p:txBody>
      </p:sp>
      <p:sp>
        <p:nvSpPr>
          <p:cNvPr id="29" name="Shape 25"/>
          <p:cNvSpPr/>
          <p:nvPr/>
        </p:nvSpPr>
        <p:spPr>
          <a:xfrm>
            <a:off x="6300216" y="4270248"/>
            <a:ext cx="201168" cy="0"/>
          </a:xfrm>
          <a:prstGeom prst="line">
            <a:avLst/>
          </a:prstGeom>
          <a:noFill/>
          <a:ln w="127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30" name="Text 26"/>
          <p:cNvSpPr/>
          <p:nvPr/>
        </p:nvSpPr>
        <p:spPr>
          <a:xfrm>
            <a:off x="6537960" y="4041648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Controller 接口层</a:t>
            </a:r>
            <a:endParaRPr lang="zh-CN" sz="1200" dirty="0"/>
          </a:p>
        </p:txBody>
      </p:sp>
      <p:sp>
        <p:nvSpPr>
          <p:cNvPr id="31" name="Shape 27"/>
          <p:cNvSpPr/>
          <p:nvPr/>
        </p:nvSpPr>
        <p:spPr>
          <a:xfrm>
            <a:off x="7991856" y="4270248"/>
            <a:ext cx="201168" cy="0"/>
          </a:xfrm>
          <a:prstGeom prst="line">
            <a:avLst/>
          </a:prstGeom>
          <a:noFill/>
          <a:ln w="127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32" name="Text 28"/>
          <p:cNvSpPr/>
          <p:nvPr/>
        </p:nvSpPr>
        <p:spPr>
          <a:xfrm>
            <a:off x="8229600" y="404164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 业务层</a:t>
            </a:r>
            <a:endParaRPr lang="zh-CN" sz="1200" dirty="0"/>
          </a:p>
        </p:txBody>
      </p:sp>
      <p:sp>
        <p:nvSpPr>
          <p:cNvPr id="33" name="Shape 29"/>
          <p:cNvSpPr/>
          <p:nvPr/>
        </p:nvSpPr>
        <p:spPr>
          <a:xfrm>
            <a:off x="9637776" y="4270248"/>
            <a:ext cx="201168" cy="0"/>
          </a:xfrm>
          <a:prstGeom prst="line">
            <a:avLst/>
          </a:prstGeom>
          <a:noFill/>
          <a:ln w="127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34" name="Text 30"/>
          <p:cNvSpPr/>
          <p:nvPr/>
        </p:nvSpPr>
        <p:spPr>
          <a:xfrm>
            <a:off x="9875520" y="404164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Mapper · MyBatis</a:t>
            </a:r>
            <a:endParaRPr lang="zh-CN" sz="1200" dirty="0"/>
          </a:p>
        </p:txBody>
      </p:sp>
      <p:sp>
        <p:nvSpPr>
          <p:cNvPr id="35" name="Text 31"/>
          <p:cNvSpPr/>
          <p:nvPr/>
        </p:nvSpPr>
        <p:spPr>
          <a:xfrm>
            <a:off x="2057400" y="4645152"/>
            <a:ext cx="1759306" cy="4572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9525">
            <a:solidFill>
              <a:srgbClr val="F3F4F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WebSocket 实时推送</a:t>
            </a:r>
            <a:endParaRPr lang="zh-CN" sz="1200" dirty="0"/>
          </a:p>
        </p:txBody>
      </p:sp>
      <p:sp>
        <p:nvSpPr>
          <p:cNvPr id="36" name="Text 32"/>
          <p:cNvSpPr/>
          <p:nvPr/>
        </p:nvSpPr>
        <p:spPr>
          <a:xfrm>
            <a:off x="3953866" y="4645152"/>
            <a:ext cx="1759306" cy="4572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9525">
            <a:solidFill>
              <a:srgbClr val="F3F4F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AOP 操作日志</a:t>
            </a:r>
            <a:endParaRPr lang="zh-CN" sz="1200" dirty="0"/>
          </a:p>
        </p:txBody>
      </p:sp>
      <p:sp>
        <p:nvSpPr>
          <p:cNvPr id="37" name="Text 33"/>
          <p:cNvSpPr/>
          <p:nvPr/>
        </p:nvSpPr>
        <p:spPr>
          <a:xfrm>
            <a:off x="5850331" y="4645152"/>
            <a:ext cx="1759306" cy="4572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9525">
            <a:solidFill>
              <a:srgbClr val="F3F4F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定时任务 · 日志清理</a:t>
            </a:r>
            <a:endParaRPr lang="zh-CN" sz="1200" dirty="0"/>
          </a:p>
        </p:txBody>
      </p:sp>
      <p:sp>
        <p:nvSpPr>
          <p:cNvPr id="38" name="Text 34"/>
          <p:cNvSpPr/>
          <p:nvPr/>
        </p:nvSpPr>
        <p:spPr>
          <a:xfrm>
            <a:off x="7746797" y="4645152"/>
            <a:ext cx="1759306" cy="4572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9525">
            <a:solidFill>
              <a:srgbClr val="F3F4F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文件上传 · 白名单校验</a:t>
            </a:r>
            <a:endParaRPr lang="zh-CN" sz="1200" dirty="0"/>
          </a:p>
        </p:txBody>
      </p:sp>
      <p:sp>
        <p:nvSpPr>
          <p:cNvPr id="39" name="Text 35"/>
          <p:cNvSpPr/>
          <p:nvPr/>
        </p:nvSpPr>
        <p:spPr>
          <a:xfrm>
            <a:off x="9643262" y="4645152"/>
            <a:ext cx="1759306" cy="4572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9525">
            <a:solidFill>
              <a:srgbClr val="F3F4F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推荐与预警算法</a:t>
            </a:r>
            <a:endParaRPr lang="zh-CN" sz="1200" dirty="0"/>
          </a:p>
        </p:txBody>
      </p:sp>
      <p:sp>
        <p:nvSpPr>
          <p:cNvPr id="40" name="Shape 36"/>
          <p:cNvSpPr/>
          <p:nvPr/>
        </p:nvSpPr>
        <p:spPr>
          <a:xfrm>
            <a:off x="6757416" y="5276088"/>
            <a:ext cx="0" cy="164592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1874520" y="5458968"/>
            <a:ext cx="3134563" cy="713232"/>
          </a:xfrm>
          <a:prstGeom prst="roundRect">
            <a:avLst>
              <a:gd name="adj" fmla="val 12821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2057400" y="5614416"/>
            <a:ext cx="402336" cy="402336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43" name="Image 2" descr="C:\Users\Administrator\AppData\Local\Temp\claude\D--BISHE-BISHE-Software-manager-vue3\99644240-cb63-4863-810a-499e789ad21e\scratchpad\ppt\icons\Coin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9937" y="5706953"/>
            <a:ext cx="217261" cy="217261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2606040" y="5458968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5.7 / 8.x</a:t>
            </a:r>
            <a:endParaRPr lang="zh-CN" sz="1300" dirty="0"/>
          </a:p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张表 · 二级索引</a:t>
            </a:r>
            <a:endParaRPr lang="zh-CN" sz="1300" dirty="0"/>
          </a:p>
        </p:txBody>
      </p:sp>
      <p:sp>
        <p:nvSpPr>
          <p:cNvPr id="45" name="Shape 40"/>
          <p:cNvSpPr/>
          <p:nvPr/>
        </p:nvSpPr>
        <p:spPr>
          <a:xfrm>
            <a:off x="5191963" y="5458968"/>
            <a:ext cx="3134563" cy="713232"/>
          </a:xfrm>
          <a:prstGeom prst="roundRect">
            <a:avLst>
              <a:gd name="adj" fmla="val 12821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5374843" y="5614416"/>
            <a:ext cx="402336" cy="402336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47" name="Image 3" descr="C:\Users\Administrator\AppData\Local\Temp\claude\D--BISHE-BISHE-Software-manager-vue3\99644240-cb63-4863-810a-499e789ad21e\scratchpad\ppt\icons\Files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7380" y="5706953"/>
            <a:ext cx="217261" cy="217261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5923483" y="5458968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文件存储</a:t>
            </a:r>
            <a:endParaRPr lang="zh-CN" sz="1300" dirty="0"/>
          </a:p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MD5 去重命名 · 20MB 上限</a:t>
            </a:r>
            <a:endParaRPr lang="zh-CN" sz="1300" dirty="0"/>
          </a:p>
        </p:txBody>
      </p:sp>
      <p:sp>
        <p:nvSpPr>
          <p:cNvPr id="49" name="Shape 43"/>
          <p:cNvSpPr/>
          <p:nvPr/>
        </p:nvSpPr>
        <p:spPr>
          <a:xfrm>
            <a:off x="8509406" y="5458968"/>
            <a:ext cx="3134563" cy="713232"/>
          </a:xfrm>
          <a:prstGeom prst="roundRect">
            <a:avLst>
              <a:gd name="adj" fmla="val 12821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8692286" y="5614416"/>
            <a:ext cx="402336" cy="402336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51" name="Image 4" descr="C:\Users\Administrator\AppData\Local\Temp\claude\D--BISHE-BISHE-Software-manager-vue3\99644240-cb63-4863-810a-499e789ad21e\scratchpad\ppt\icons\Timer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4824" y="5706953"/>
            <a:ext cx="217261" cy="217261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9240926" y="5458968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进程内缓存</a:t>
            </a:r>
            <a:endParaRPr lang="zh-CN" sz="1300" dirty="0"/>
          </a:p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大屏 30 秒 · 推荐 60 秒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系统设计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6215" cy="452628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28800"/>
            <a:ext cx="548640" cy="54864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6" name="Image 0" descr="C:\Users\Administrator\AppData\Local\Temp\claude\D--BISHE-BISHE-Software-manager-vue3\99644240-cb63-4863-810a-499e789ad21e\scratchpad\ppt\icons\Monitor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954987"/>
            <a:ext cx="296266" cy="29626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18288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</a:t>
            </a:r>
            <a:endParaRPr lang="zh-CN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+ Vite 5</a:t>
            </a:r>
            <a:endParaRPr lang="zh-CN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443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组合式 API，开发热更新</a:t>
            </a:r>
            <a:endParaRPr lang="zh-CN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284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TypeScript</a:t>
            </a:r>
            <a:endParaRPr lang="zh-CN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6210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静态类型检查</a:t>
            </a:r>
            <a:endParaRPr lang="zh-CN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0050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Element Plus</a:t>
            </a:r>
            <a:endParaRPr lang="zh-CN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297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组件库，按需引入</a:t>
            </a:r>
            <a:endParaRPr lang="zh-CN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681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Pinia + Vue Router</a:t>
            </a:r>
            <a:endParaRPr lang="zh-CN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9743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状态管理与路由守卫</a:t>
            </a:r>
            <a:endParaRPr lang="zh-CN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3583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ECharts + vue-i18n</a:t>
            </a:r>
            <a:endParaRPr lang="zh-CN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650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统计图表与中英文国际化</a:t>
            </a:r>
            <a:endParaRPr lang="zh-CN" sz="1200" dirty="0"/>
          </a:p>
        </p:txBody>
      </p:sp>
      <p:sp>
        <p:nvSpPr>
          <p:cNvPr id="18" name="Shape 15"/>
          <p:cNvSpPr/>
          <p:nvPr/>
        </p:nvSpPr>
        <p:spPr>
          <a:xfrm>
            <a:off x="3367735" y="1600200"/>
            <a:ext cx="2636215" cy="452628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623767" y="1828800"/>
            <a:ext cx="548640" cy="54864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20" name="Image 1" descr="C:\Users\Administrator\AppData\Local\Temp\claude\D--BISHE-BISHE-Software-manager-vue3\99644240-cb63-4863-810a-499e789ad21e\scratchpad\ppt\icons\Cpu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954" y="1954987"/>
            <a:ext cx="296266" cy="29626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300423" y="18288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后端服务</a:t>
            </a:r>
            <a:endParaRPr lang="zh-CN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3642055" y="26517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2.7.18</a:t>
            </a:r>
            <a:endParaRPr lang="zh-CN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642055" y="29443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8 应用框架</a:t>
            </a:r>
            <a:endParaRPr lang="zh-CN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3642055" y="33284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MyBatis + PageHelper</a:t>
            </a:r>
            <a:endParaRPr lang="zh-CN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3642055" y="36210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映射与分页</a:t>
            </a:r>
            <a:endParaRPr lang="zh-CN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642055" y="40050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+ BCrypt</a:t>
            </a:r>
            <a:endParaRPr lang="zh-CN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42055" y="4297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令牌认证与密码哈希</a:t>
            </a:r>
            <a:endParaRPr lang="zh-CN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3642055" y="4681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AOP</a:t>
            </a:r>
            <a:endParaRPr lang="zh-CN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3642055" y="49743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权限切面与操作日志</a:t>
            </a:r>
            <a:endParaRPr lang="zh-CN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3642055" y="53583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WebSocket + EasyExcel</a:t>
            </a:r>
            <a:endParaRPr lang="zh-CN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3642055" y="5650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实时推送与 Excel 导入导出</a:t>
            </a:r>
            <a:endParaRPr lang="zh-CN" sz="1200" dirty="0"/>
          </a:p>
        </p:txBody>
      </p:sp>
      <p:sp>
        <p:nvSpPr>
          <p:cNvPr id="32" name="Shape 28"/>
          <p:cNvSpPr/>
          <p:nvPr/>
        </p:nvSpPr>
        <p:spPr>
          <a:xfrm>
            <a:off x="6186830" y="1600200"/>
            <a:ext cx="2636215" cy="452628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442862" y="1828800"/>
            <a:ext cx="548640" cy="54864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34" name="Image 2" descr="C:\Users\Administrator\AppData\Local\Temp\claude\D--BISHE-BISHE-Software-manager-vue3\99644240-cb63-4863-810a-499e789ad21e\scratchpad\ppt\icons\Iphon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050" y="1954987"/>
            <a:ext cx="296266" cy="296266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7119518" y="18288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微信小程序端</a:t>
            </a:r>
            <a:endParaRPr lang="zh-CN" sz="1700" dirty="0"/>
          </a:p>
        </p:txBody>
      </p:sp>
      <p:sp>
        <p:nvSpPr>
          <p:cNvPr id="36" name="Text 31"/>
          <p:cNvSpPr txBox="1"/>
          <p:nvPr/>
        </p:nvSpPr>
        <p:spPr>
          <a:xfrm>
            <a:off x="6461150" y="26517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uni-app（Vue 3）</a:t>
            </a:r>
            <a:endParaRPr lang="zh-CN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6461150" y="29443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一套代码编译为微信小程序</a:t>
            </a:r>
            <a:endParaRPr lang="zh-CN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61150" y="33284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Pinia</a:t>
            </a:r>
            <a:endParaRPr lang="zh-CN" sz="1400" dirty="0"/>
          </a:p>
        </p:txBody>
      </p:sp>
      <p:sp>
        <p:nvSpPr>
          <p:cNvPr id="39" name="Text 34"/>
          <p:cNvSpPr txBox="1"/>
          <p:nvPr/>
        </p:nvSpPr>
        <p:spPr>
          <a:xfrm>
            <a:off x="6461150" y="36210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状态管理与本地持久化</a:t>
            </a:r>
            <a:endParaRPr lang="zh-CN" sz="1200" dirty="0"/>
          </a:p>
        </p:txBody>
      </p:sp>
      <p:sp>
        <p:nvSpPr>
          <p:cNvPr id="40" name="Text 35"/>
          <p:cNvSpPr txBox="1"/>
          <p:nvPr/>
        </p:nvSpPr>
        <p:spPr>
          <a:xfrm>
            <a:off x="6461150" y="40050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自研轻量 i18n</a:t>
            </a:r>
            <a:endParaRPr lang="zh-CN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461150" y="4297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Web 端共用词条键</a:t>
            </a:r>
            <a:endParaRPr lang="zh-CN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6461150" y="4681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CSS 统计图</a:t>
            </a:r>
            <a:endParaRPr lang="zh-CN" sz="1400" dirty="0"/>
          </a:p>
        </p:txBody>
      </p:sp>
      <p:sp>
        <p:nvSpPr>
          <p:cNvPr id="43" name="Text 38"/>
          <p:cNvSpPr txBox="1"/>
          <p:nvPr/>
        </p:nvSpPr>
        <p:spPr>
          <a:xfrm>
            <a:off x="6461150" y="49743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无图表库依赖，体积小</a:t>
            </a:r>
            <a:endParaRPr lang="zh-CN" sz="1200" dirty="0"/>
          </a:p>
        </p:txBody>
      </p:sp>
      <p:sp>
        <p:nvSpPr>
          <p:cNvPr id="44" name="Text 39"/>
          <p:cNvSpPr txBox="1"/>
          <p:nvPr/>
        </p:nvSpPr>
        <p:spPr>
          <a:xfrm>
            <a:off x="6461150" y="53583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WebSocket</a:t>
            </a:r>
            <a:endParaRPr lang="zh-CN" sz="1400" dirty="0"/>
          </a:p>
        </p:txBody>
      </p:sp>
      <p:sp>
        <p:nvSpPr>
          <p:cNvPr id="45" name="Text 40"/>
          <p:cNvSpPr txBox="1"/>
          <p:nvPr/>
        </p:nvSpPr>
        <p:spPr>
          <a:xfrm>
            <a:off x="6461150" y="5650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消息中心与未读角标</a:t>
            </a:r>
            <a:endParaRPr lang="zh-CN" sz="1200" dirty="0"/>
          </a:p>
        </p:txBody>
      </p:sp>
      <p:sp>
        <p:nvSpPr>
          <p:cNvPr id="46" name="Shape 41"/>
          <p:cNvSpPr/>
          <p:nvPr/>
        </p:nvSpPr>
        <p:spPr>
          <a:xfrm>
            <a:off x="9005926" y="1600200"/>
            <a:ext cx="2636215" cy="452628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  <a:effectLst>
            <a:outerShdw sx="100000" sy="100000" kx="0" ky="0" algn="bl" rotWithShape="0" blurRad="127000" dist="38100" dir="5400000">
              <a:srgbClr val="1E1B4B">
                <a:alpha val="7000"/>
              </a:srgbClr>
            </a:outerShdw>
          </a:effectLst>
        </p:spPr>
      </p:sp>
      <p:sp>
        <p:nvSpPr>
          <p:cNvPr id="47" name="Shape 42"/>
          <p:cNvSpPr/>
          <p:nvPr/>
        </p:nvSpPr>
        <p:spPr>
          <a:xfrm>
            <a:off x="9261958" y="1828800"/>
            <a:ext cx="548640" cy="54864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48" name="Image 3" descr="C:\Users\Administrator\AppData\Local\Temp\claude\D--BISHE-BISHE-Software-manager-vue3\99644240-cb63-4863-810a-499e789ad21e\scratchpad\ppt\icons\Box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8145" y="1954987"/>
            <a:ext cx="296266" cy="296266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9938614" y="18288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数据与部署</a:t>
            </a:r>
            <a:endParaRPr lang="zh-CN" sz="1700" dirty="0"/>
          </a:p>
        </p:txBody>
      </p:sp>
      <p:sp>
        <p:nvSpPr>
          <p:cNvPr id="50" name="Text 44"/>
          <p:cNvSpPr txBox="1"/>
          <p:nvPr/>
        </p:nvSpPr>
        <p:spPr>
          <a:xfrm>
            <a:off x="9280246" y="26517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5.7 / 8.x</a:t>
            </a:r>
            <a:endParaRPr lang="zh-CN" sz="1400" dirty="0"/>
          </a:p>
        </p:txBody>
      </p:sp>
      <p:sp>
        <p:nvSpPr>
          <p:cNvPr id="51" name="Text 45"/>
          <p:cNvSpPr txBox="1"/>
          <p:nvPr/>
        </p:nvSpPr>
        <p:spPr>
          <a:xfrm>
            <a:off x="9280246" y="29443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关系型数据库，21 张表</a:t>
            </a:r>
            <a:endParaRPr lang="zh-CN" sz="1200" dirty="0"/>
          </a:p>
        </p:txBody>
      </p:sp>
      <p:sp>
        <p:nvSpPr>
          <p:cNvPr id="52" name="Text 46"/>
          <p:cNvSpPr txBox="1"/>
          <p:nvPr/>
        </p:nvSpPr>
        <p:spPr>
          <a:xfrm>
            <a:off x="9280246" y="33284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Compose</a:t>
            </a:r>
            <a:endParaRPr lang="zh-CN" sz="1400" dirty="0"/>
          </a:p>
        </p:txBody>
      </p:sp>
      <p:sp>
        <p:nvSpPr>
          <p:cNvPr id="53" name="Text 47"/>
          <p:cNvSpPr txBox="1"/>
          <p:nvPr/>
        </p:nvSpPr>
        <p:spPr>
          <a:xfrm>
            <a:off x="9280246" y="36210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三容器一键部署</a:t>
            </a:r>
            <a:endParaRPr lang="zh-CN" sz="1200" dirty="0"/>
          </a:p>
        </p:txBody>
      </p:sp>
      <p:sp>
        <p:nvSpPr>
          <p:cNvPr id="54" name="Text 48"/>
          <p:cNvSpPr txBox="1"/>
          <p:nvPr/>
        </p:nvSpPr>
        <p:spPr>
          <a:xfrm>
            <a:off x="9280246" y="40050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nginx</a:t>
            </a:r>
            <a:endParaRPr lang="zh-CN" sz="1400" dirty="0"/>
          </a:p>
        </p:txBody>
      </p:sp>
      <p:sp>
        <p:nvSpPr>
          <p:cNvPr id="55" name="Text 49"/>
          <p:cNvSpPr txBox="1"/>
          <p:nvPr/>
        </p:nvSpPr>
        <p:spPr>
          <a:xfrm>
            <a:off x="9280246" y="4297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静态托管与反向代理</a:t>
            </a:r>
            <a:endParaRPr lang="zh-CN" sz="1200" dirty="0"/>
          </a:p>
        </p:txBody>
      </p:sp>
      <p:sp>
        <p:nvSpPr>
          <p:cNvPr id="56" name="Text 50"/>
          <p:cNvSpPr txBox="1"/>
          <p:nvPr/>
        </p:nvSpPr>
        <p:spPr>
          <a:xfrm>
            <a:off x="9280246" y="4681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JUnit 5 + Mockito</a:t>
            </a:r>
            <a:endParaRPr lang="zh-CN" sz="1400" dirty="0"/>
          </a:p>
        </p:txBody>
      </p:sp>
      <p:sp>
        <p:nvSpPr>
          <p:cNvPr id="57" name="Text 51"/>
          <p:cNvSpPr txBox="1"/>
          <p:nvPr/>
        </p:nvSpPr>
        <p:spPr>
          <a:xfrm>
            <a:off x="9280246" y="49743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后端单元测试（57 个）</a:t>
            </a:r>
            <a:endParaRPr lang="zh-CN" sz="1200" dirty="0"/>
          </a:p>
        </p:txBody>
      </p:sp>
      <p:sp>
        <p:nvSpPr>
          <p:cNvPr id="58" name="Text 52"/>
          <p:cNvSpPr txBox="1"/>
          <p:nvPr/>
        </p:nvSpPr>
        <p:spPr>
          <a:xfrm>
            <a:off x="9280246" y="53583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Vitest</a:t>
            </a:r>
            <a:endParaRPr lang="zh-CN" sz="1400" dirty="0"/>
          </a:p>
        </p:txBody>
      </p:sp>
      <p:sp>
        <p:nvSpPr>
          <p:cNvPr id="59" name="Text 53"/>
          <p:cNvSpPr txBox="1"/>
          <p:nvPr/>
        </p:nvSpPr>
        <p:spPr>
          <a:xfrm>
            <a:off x="9280246" y="5650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与小程序测试（247 个）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功能模块设计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系统设计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4633265" y="155448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E1B4B"/>
          </a:solidFill>
          <a:ln>
            <a:solidFill>
              <a:srgbClr val="1E1B4B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教务管理系统</a:t>
            </a:r>
            <a:endParaRPr lang="zh-CN" sz="1800" dirty="0"/>
          </a:p>
        </p:txBody>
      </p:sp>
      <p:sp>
        <p:nvSpPr>
          <p:cNvPr id="5" name="Shape 3"/>
          <p:cNvSpPr/>
          <p:nvPr/>
        </p:nvSpPr>
        <p:spPr>
          <a:xfrm>
            <a:off x="6096305" y="2103120"/>
            <a:ext cx="0" cy="228600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2331720"/>
            <a:ext cx="9631375" cy="0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331720"/>
            <a:ext cx="0" cy="210312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542032"/>
            <a:ext cx="1463040" cy="512064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首页与大屏</a:t>
            </a:r>
            <a:endParaRPr lang="zh-CN" sz="1450" dirty="0"/>
          </a:p>
        </p:txBody>
      </p:sp>
      <p:sp>
        <p:nvSpPr>
          <p:cNvPr id="9" name="Text 7"/>
          <p:cNvSpPr/>
          <p:nvPr/>
        </p:nvSpPr>
        <p:spPr>
          <a:xfrm>
            <a:off x="548640" y="321868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系统首页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694176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数据大屏</a:t>
            </a:r>
            <a:endParaRPr lang="zh-CN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169664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个人信息</a:t>
            </a:r>
            <a:endParaRPr lang="zh-CN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645152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修改密码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2885389" y="2331720"/>
            <a:ext cx="0" cy="210312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53869" y="2542032"/>
            <a:ext cx="1463040" cy="512064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信息公告</a:t>
            </a:r>
            <a:endParaRPr lang="zh-CN" sz="1450" dirty="0"/>
          </a:p>
        </p:txBody>
      </p:sp>
      <p:sp>
        <p:nvSpPr>
          <p:cNvPr id="15" name="Text 13"/>
          <p:cNvSpPr/>
          <p:nvPr/>
        </p:nvSpPr>
        <p:spPr>
          <a:xfrm>
            <a:off x="2153869" y="321868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教务通知</a:t>
            </a:r>
            <a:endParaRPr lang="zh-CN" sz="1300" dirty="0"/>
          </a:p>
        </p:txBody>
      </p:sp>
      <p:sp>
        <p:nvSpPr>
          <p:cNvPr id="16" name="Text 14"/>
          <p:cNvSpPr/>
          <p:nvPr/>
        </p:nvSpPr>
        <p:spPr>
          <a:xfrm>
            <a:off x="2153869" y="3694176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考试安排</a:t>
            </a:r>
            <a:endParaRPr lang="zh-CN" sz="1300" dirty="0"/>
          </a:p>
        </p:txBody>
      </p:sp>
      <p:sp>
        <p:nvSpPr>
          <p:cNvPr id="17" name="Text 15"/>
          <p:cNvSpPr/>
          <p:nvPr/>
        </p:nvSpPr>
        <p:spPr>
          <a:xfrm>
            <a:off x="2153869" y="4169664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教室安排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4490618" y="2331720"/>
            <a:ext cx="0" cy="210312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59098" y="2542032"/>
            <a:ext cx="1463040" cy="512064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行政管理</a:t>
            </a:r>
            <a:endParaRPr lang="zh-CN" sz="1450" dirty="0"/>
          </a:p>
        </p:txBody>
      </p:sp>
      <p:sp>
        <p:nvSpPr>
          <p:cNvPr id="20" name="Text 18"/>
          <p:cNvSpPr/>
          <p:nvPr/>
        </p:nvSpPr>
        <p:spPr>
          <a:xfrm>
            <a:off x="3759098" y="321868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学院信息</a:t>
            </a:r>
            <a:endParaRPr lang="zh-CN" sz="1300" dirty="0"/>
          </a:p>
        </p:txBody>
      </p:sp>
      <p:sp>
        <p:nvSpPr>
          <p:cNvPr id="21" name="Text 19"/>
          <p:cNvSpPr/>
          <p:nvPr/>
        </p:nvSpPr>
        <p:spPr>
          <a:xfrm>
            <a:off x="3759098" y="3694176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专业信息</a:t>
            </a:r>
            <a:endParaRPr lang="zh-CN" sz="1300" dirty="0"/>
          </a:p>
        </p:txBody>
      </p:sp>
      <p:sp>
        <p:nvSpPr>
          <p:cNvPr id="22" name="Text 20"/>
          <p:cNvSpPr/>
          <p:nvPr/>
        </p:nvSpPr>
        <p:spPr>
          <a:xfrm>
            <a:off x="3759098" y="4169664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班级信息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6095848" y="2331720"/>
            <a:ext cx="0" cy="210312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4328" y="2542032"/>
            <a:ext cx="1463040" cy="512064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教学管理</a:t>
            </a:r>
            <a:endParaRPr lang="zh-CN" sz="1450" dirty="0"/>
          </a:p>
        </p:txBody>
      </p:sp>
      <p:sp>
        <p:nvSpPr>
          <p:cNvPr id="25" name="Text 23"/>
          <p:cNvSpPr/>
          <p:nvPr/>
        </p:nvSpPr>
        <p:spPr>
          <a:xfrm>
            <a:off x="5364328" y="321868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课程信息</a:t>
            </a:r>
            <a:endParaRPr lang="zh-CN" sz="1300" dirty="0"/>
          </a:p>
        </p:txBody>
      </p:sp>
      <p:sp>
        <p:nvSpPr>
          <p:cNvPr id="26" name="Text 24"/>
          <p:cNvSpPr/>
          <p:nvPr/>
        </p:nvSpPr>
        <p:spPr>
          <a:xfrm>
            <a:off x="5364328" y="3694176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我的选课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5364328" y="4169664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我的课表</a:t>
            </a:r>
            <a:endParaRPr lang="zh-CN" sz="1300" dirty="0"/>
          </a:p>
        </p:txBody>
      </p:sp>
      <p:sp>
        <p:nvSpPr>
          <p:cNvPr id="28" name="Text 26"/>
          <p:cNvSpPr/>
          <p:nvPr/>
        </p:nvSpPr>
        <p:spPr>
          <a:xfrm>
            <a:off x="5364328" y="4645152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成绩管理</a:t>
            </a:r>
            <a:endParaRPr lang="zh-CN" sz="1300" dirty="0"/>
          </a:p>
        </p:txBody>
      </p:sp>
      <p:sp>
        <p:nvSpPr>
          <p:cNvPr id="29" name="Text 27"/>
          <p:cNvSpPr/>
          <p:nvPr/>
        </p:nvSpPr>
        <p:spPr>
          <a:xfrm>
            <a:off x="5364328" y="512064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学业预警</a:t>
            </a:r>
            <a:endParaRPr lang="zh-CN" sz="1300" dirty="0"/>
          </a:p>
        </p:txBody>
      </p:sp>
      <p:sp>
        <p:nvSpPr>
          <p:cNvPr id="30" name="Text 28"/>
          <p:cNvSpPr/>
          <p:nvPr/>
        </p:nvSpPr>
        <p:spPr>
          <a:xfrm>
            <a:off x="5364328" y="559612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网上评教</a:t>
            </a:r>
            <a:endParaRPr lang="zh-CN" sz="1300" dirty="0"/>
          </a:p>
        </p:txBody>
      </p:sp>
      <p:sp>
        <p:nvSpPr>
          <p:cNvPr id="31" name="Shape 29"/>
          <p:cNvSpPr/>
          <p:nvPr/>
        </p:nvSpPr>
        <p:spPr>
          <a:xfrm>
            <a:off x="7701077" y="2331720"/>
            <a:ext cx="0" cy="210312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69557" y="2542032"/>
            <a:ext cx="1463040" cy="512064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教务管理</a:t>
            </a:r>
            <a:endParaRPr lang="zh-CN" sz="1450" dirty="0"/>
          </a:p>
        </p:txBody>
      </p:sp>
      <p:sp>
        <p:nvSpPr>
          <p:cNvPr id="33" name="Text 31"/>
          <p:cNvSpPr/>
          <p:nvPr/>
        </p:nvSpPr>
        <p:spPr>
          <a:xfrm>
            <a:off x="6969557" y="321868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zh-CN" sz="1300" dirty="0"/>
          </a:p>
        </p:txBody>
      </p:sp>
      <p:sp>
        <p:nvSpPr>
          <p:cNvPr id="34" name="Text 32"/>
          <p:cNvSpPr/>
          <p:nvPr/>
        </p:nvSpPr>
        <p:spPr>
          <a:xfrm>
            <a:off x="6969557" y="3694176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作业提交</a:t>
            </a:r>
            <a:endParaRPr lang="zh-CN" sz="1300" dirty="0"/>
          </a:p>
        </p:txBody>
      </p:sp>
      <p:sp>
        <p:nvSpPr>
          <p:cNvPr id="35" name="Text 33"/>
          <p:cNvSpPr/>
          <p:nvPr/>
        </p:nvSpPr>
        <p:spPr>
          <a:xfrm>
            <a:off x="6969557" y="4169664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考勤信息</a:t>
            </a:r>
            <a:endParaRPr lang="zh-CN" sz="1300" dirty="0"/>
          </a:p>
        </p:txBody>
      </p:sp>
      <p:sp>
        <p:nvSpPr>
          <p:cNvPr id="36" name="Shape 34"/>
          <p:cNvSpPr/>
          <p:nvPr/>
        </p:nvSpPr>
        <p:spPr>
          <a:xfrm>
            <a:off x="9306306" y="2331720"/>
            <a:ext cx="0" cy="210312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74786" y="2542032"/>
            <a:ext cx="1463040" cy="512064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用户管理</a:t>
            </a:r>
            <a:endParaRPr lang="zh-CN" sz="1450" dirty="0"/>
          </a:p>
        </p:txBody>
      </p:sp>
      <p:sp>
        <p:nvSpPr>
          <p:cNvPr id="38" name="Text 36"/>
          <p:cNvSpPr/>
          <p:nvPr/>
        </p:nvSpPr>
        <p:spPr>
          <a:xfrm>
            <a:off x="8574786" y="321868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管理员信息</a:t>
            </a:r>
            <a:endParaRPr lang="zh-CN" sz="1300" dirty="0"/>
          </a:p>
        </p:txBody>
      </p:sp>
      <p:sp>
        <p:nvSpPr>
          <p:cNvPr id="39" name="Text 37"/>
          <p:cNvSpPr/>
          <p:nvPr/>
        </p:nvSpPr>
        <p:spPr>
          <a:xfrm>
            <a:off x="8574786" y="3694176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教师信息</a:t>
            </a:r>
            <a:endParaRPr lang="zh-CN" sz="1300" dirty="0"/>
          </a:p>
        </p:txBody>
      </p:sp>
      <p:sp>
        <p:nvSpPr>
          <p:cNvPr id="40" name="Text 38"/>
          <p:cNvSpPr/>
          <p:nvPr/>
        </p:nvSpPr>
        <p:spPr>
          <a:xfrm>
            <a:off x="8574786" y="4169664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学生信息</a:t>
            </a:r>
            <a:endParaRPr lang="zh-CN" sz="1300" dirty="0"/>
          </a:p>
        </p:txBody>
      </p:sp>
      <p:sp>
        <p:nvSpPr>
          <p:cNvPr id="41" name="Shape 39"/>
          <p:cNvSpPr/>
          <p:nvPr/>
        </p:nvSpPr>
        <p:spPr>
          <a:xfrm>
            <a:off x="10911535" y="2331720"/>
            <a:ext cx="0" cy="210312"/>
          </a:xfrm>
          <a:prstGeom prst="line">
            <a:avLst/>
          </a:prstGeom>
          <a:noFill/>
          <a:ln w="15875">
            <a:solidFill>
              <a:srgbClr val="A5B4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180015" y="2542032"/>
            <a:ext cx="1463040" cy="512064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系统管理</a:t>
            </a:r>
            <a:endParaRPr lang="zh-CN" sz="1450" dirty="0"/>
          </a:p>
        </p:txBody>
      </p:sp>
      <p:sp>
        <p:nvSpPr>
          <p:cNvPr id="43" name="Text 41"/>
          <p:cNvSpPr/>
          <p:nvPr/>
        </p:nvSpPr>
        <p:spPr>
          <a:xfrm>
            <a:off x="10180015" y="321868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权限设置</a:t>
            </a:r>
            <a:endParaRPr lang="zh-CN" sz="1300" dirty="0"/>
          </a:p>
        </p:txBody>
      </p:sp>
      <p:sp>
        <p:nvSpPr>
          <p:cNvPr id="44" name="Text 42"/>
          <p:cNvSpPr/>
          <p:nvPr/>
        </p:nvSpPr>
        <p:spPr>
          <a:xfrm>
            <a:off x="10180015" y="3694176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操作日志</a:t>
            </a:r>
            <a:endParaRPr lang="zh-CN" sz="1300" dirty="0"/>
          </a:p>
        </p:txBody>
      </p:sp>
      <p:sp>
        <p:nvSpPr>
          <p:cNvPr id="45" name="Text 43"/>
          <p:cNvSpPr/>
          <p:nvPr/>
        </p:nvSpPr>
        <p:spPr>
          <a:xfrm>
            <a:off x="10180015" y="4169664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登录日志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系统设计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400" dirty="0"/>
          </a:p>
        </p:txBody>
      </p:sp>
      <p:sp>
        <p:nvSpPr>
          <p:cNvPr id="5" name="Shape 3"/>
          <p:cNvSpPr/>
          <p:nvPr/>
        </p:nvSpPr>
        <p:spPr>
          <a:xfrm>
            <a:off x="1847088" y="2029968"/>
            <a:ext cx="466344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1828800" y="17647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: N</a:t>
            </a:r>
            <a:endParaRPr lang="zh-CN" sz="1050" dirty="0"/>
          </a:p>
        </p:txBody>
      </p:sp>
      <p:sp>
        <p:nvSpPr>
          <p:cNvPr id="7" name="Text 5"/>
          <p:cNvSpPr/>
          <p:nvPr/>
        </p:nvSpPr>
        <p:spPr>
          <a:xfrm>
            <a:off x="2331720" y="178308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</a:t>
            </a:r>
            <a:endParaRPr lang="zh-CN" sz="1400" dirty="0"/>
          </a:p>
        </p:txBody>
      </p:sp>
      <p:sp>
        <p:nvSpPr>
          <p:cNvPr id="8" name="Shape 6"/>
          <p:cNvSpPr/>
          <p:nvPr/>
        </p:nvSpPr>
        <p:spPr>
          <a:xfrm>
            <a:off x="3630168" y="2029968"/>
            <a:ext cx="466344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: N</a:t>
            </a:r>
            <a:endParaRPr lang="zh-CN" sz="1050" dirty="0"/>
          </a:p>
        </p:txBody>
      </p:sp>
      <p:sp>
        <p:nvSpPr>
          <p:cNvPr id="10" name="Text 8"/>
          <p:cNvSpPr/>
          <p:nvPr/>
        </p:nvSpPr>
        <p:spPr>
          <a:xfrm>
            <a:off x="4114800" y="178308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班级</a:t>
            </a:r>
            <a:endParaRPr lang="zh-CN" sz="1400" dirty="0"/>
          </a:p>
        </p:txBody>
      </p:sp>
      <p:sp>
        <p:nvSpPr>
          <p:cNvPr id="11" name="Shape 9"/>
          <p:cNvSpPr/>
          <p:nvPr/>
        </p:nvSpPr>
        <p:spPr>
          <a:xfrm>
            <a:off x="5413248" y="2029968"/>
            <a:ext cx="466344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394960" y="17647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: N</a:t>
            </a:r>
            <a:endParaRPr lang="zh-CN" sz="1050" dirty="0"/>
          </a:p>
        </p:txBody>
      </p:sp>
      <p:sp>
        <p:nvSpPr>
          <p:cNvPr id="13" name="Text 11"/>
          <p:cNvSpPr/>
          <p:nvPr/>
        </p:nvSpPr>
        <p:spPr>
          <a:xfrm>
            <a:off x="5897880" y="178308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</a:t>
            </a:r>
            <a:endParaRPr lang="zh-CN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24612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</a:t>
            </a:r>
            <a:endParaRPr lang="zh-CN" sz="1400" dirty="0"/>
          </a:p>
        </p:txBody>
      </p:sp>
      <p:sp>
        <p:nvSpPr>
          <p:cNvPr id="15" name="Text 13"/>
          <p:cNvSpPr/>
          <p:nvPr/>
        </p:nvSpPr>
        <p:spPr>
          <a:xfrm>
            <a:off x="2331720" y="324612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</a:t>
            </a:r>
            <a:endParaRPr lang="zh-CN" sz="1400" dirty="0"/>
          </a:p>
        </p:txBody>
      </p:sp>
      <p:sp>
        <p:nvSpPr>
          <p:cNvPr id="16" name="Text 14"/>
          <p:cNvSpPr/>
          <p:nvPr/>
        </p:nvSpPr>
        <p:spPr>
          <a:xfrm>
            <a:off x="4114800" y="324612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1E1B4B"/>
          </a:solidFill>
          <a:ln w="12700">
            <a:solidFill>
              <a:srgbClr val="1E1B4B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</a:t>
            </a:r>
            <a:endParaRPr lang="zh-CN" sz="1400" dirty="0"/>
          </a:p>
        </p:txBody>
      </p:sp>
      <p:sp>
        <p:nvSpPr>
          <p:cNvPr id="17" name="Shape 15"/>
          <p:cNvSpPr/>
          <p:nvPr/>
        </p:nvSpPr>
        <p:spPr>
          <a:xfrm>
            <a:off x="1847088" y="3493008"/>
            <a:ext cx="466344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1828800" y="32278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任教</a:t>
            </a:r>
            <a:endParaRPr lang="zh-CN" sz="1050" dirty="0"/>
          </a:p>
        </p:txBody>
      </p:sp>
      <p:sp>
        <p:nvSpPr>
          <p:cNvPr id="19" name="Shape 17"/>
          <p:cNvSpPr/>
          <p:nvPr/>
        </p:nvSpPr>
        <p:spPr>
          <a:xfrm>
            <a:off x="3630168" y="3493008"/>
            <a:ext cx="466344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3611880" y="32278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被选</a:t>
            </a:r>
            <a:endParaRPr lang="zh-CN" sz="1050" dirty="0"/>
          </a:p>
        </p:txBody>
      </p:sp>
      <p:sp>
        <p:nvSpPr>
          <p:cNvPr id="21" name="Shape 19"/>
          <p:cNvSpPr/>
          <p:nvPr/>
        </p:nvSpPr>
        <p:spPr>
          <a:xfrm>
            <a:off x="6537960" y="2295144"/>
            <a:ext cx="0" cy="1197864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5413248" y="3493008"/>
            <a:ext cx="1124712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577840" y="32278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选修</a:t>
            </a:r>
            <a:endParaRPr lang="zh-CN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3758184"/>
            <a:ext cx="0" cy="539496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4580" y="4297680"/>
            <a:ext cx="4800600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3931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均关联「学生 × 课程 × 教师」</a:t>
            </a:r>
            <a:endParaRPr lang="zh-CN" sz="1050" dirty="0"/>
          </a:p>
        </p:txBody>
      </p:sp>
      <p:sp>
        <p:nvSpPr>
          <p:cNvPr id="27" name="Shape 25"/>
          <p:cNvSpPr/>
          <p:nvPr/>
        </p:nvSpPr>
        <p:spPr>
          <a:xfrm>
            <a:off x="2354580" y="4297680"/>
            <a:ext cx="0" cy="530352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714500" y="484632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</a:t>
            </a:r>
            <a:endParaRPr lang="zh-CN" sz="1400" dirty="0"/>
          </a:p>
        </p:txBody>
      </p:sp>
      <p:sp>
        <p:nvSpPr>
          <p:cNvPr id="29" name="Shape 27"/>
          <p:cNvSpPr/>
          <p:nvPr/>
        </p:nvSpPr>
        <p:spPr>
          <a:xfrm>
            <a:off x="3954780" y="4297680"/>
            <a:ext cx="0" cy="530352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314700" y="484632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</a:t>
            </a:r>
            <a:endParaRPr lang="zh-CN" sz="1400" dirty="0"/>
          </a:p>
        </p:txBody>
      </p:sp>
      <p:sp>
        <p:nvSpPr>
          <p:cNvPr id="31" name="Shape 29"/>
          <p:cNvSpPr/>
          <p:nvPr/>
        </p:nvSpPr>
        <p:spPr>
          <a:xfrm>
            <a:off x="5554980" y="4297680"/>
            <a:ext cx="0" cy="530352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914900" y="484632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zh-CN" sz="1400" dirty="0"/>
          </a:p>
        </p:txBody>
      </p:sp>
      <p:sp>
        <p:nvSpPr>
          <p:cNvPr id="33" name="Shape 31"/>
          <p:cNvSpPr/>
          <p:nvPr/>
        </p:nvSpPr>
        <p:spPr>
          <a:xfrm>
            <a:off x="7155180" y="4297680"/>
            <a:ext cx="0" cy="530352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515100" y="4846320"/>
            <a:ext cx="1280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评教</a:t>
            </a:r>
            <a:endParaRPr lang="zh-CN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注：图中为逻辑关系（不建物理外键）；另有管理员、请假、教务通知、考试安排、教室 5 张业务表</a:t>
            </a:r>
            <a:endParaRPr lang="zh-CN" sz="1100" dirty="0"/>
          </a:p>
        </p:txBody>
      </p:sp>
      <p:sp>
        <p:nvSpPr>
          <p:cNvPr id="36" name="Shape 34"/>
          <p:cNvSpPr/>
          <p:nvPr/>
        </p:nvSpPr>
        <p:spPr>
          <a:xfrm>
            <a:off x="8092440" y="1600200"/>
            <a:ext cx="3550615" cy="4526280"/>
          </a:xfrm>
          <a:prstGeom prst="roundRect">
            <a:avLst>
              <a:gd name="adj" fmla="val 3090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66760" y="1783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设计要点</a:t>
            </a:r>
            <a:endParaRPr lang="zh-CN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36676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zh-CN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686800" y="230428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21 张表：16 张业务表 + 5 张系统表（RBAC 3 张、日志 2 张）</a:t>
            </a:r>
            <a:endParaRPr lang="zh-CN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3667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zh-CN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686800" y="30632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以「选课」为枢纽：成绩、考勤、作业都围绕「学生 × 课程 × 教师」展开</a:t>
            </a:r>
            <a:endParaRPr lang="zh-CN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366760" y="3822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zh-CN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686800" y="38221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逻辑外键：不建物理外键约束，由业务层保证一致性，便于批量导入</a:t>
            </a:r>
            <a:endParaRPr lang="zh-CN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366760" y="4581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zh-CN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4581144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二级索引：score(course_id, student_id) 等联合索引；账号 username 唯一索引</a:t>
            </a:r>
            <a:endParaRPr lang="zh-CN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5340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zh-CN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686800" y="5340096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平滑演进：新增列由 SchemaMigration 在启动时幂等补齐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安全认证与 RBAC 权限控制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关键技术与实现</a:t>
            </a:r>
            <a:endParaRPr lang="zh-CN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登录认证流程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758952" y="2331720"/>
            <a:ext cx="0" cy="2944368"/>
          </a:xfrm>
          <a:prstGeom prst="line">
            <a:avLst/>
          </a:prstGeom>
          <a:noFill/>
          <a:ln w="25400">
            <a:solidFill>
              <a:srgbClr val="E0E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03120"/>
            <a:ext cx="420624" cy="420624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zh-CN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0665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图形验证码</a:t>
            </a:r>
            <a:endParaRPr lang="zh-CN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377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验证码与会话绑定，校验不区分大小写</a:t>
            </a:r>
            <a:endParaRPr lang="zh-CN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889504"/>
            <a:ext cx="420624" cy="420624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zh-CN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登录保护</a:t>
            </a:r>
            <a:endParaRPr lang="zh-CN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1638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连续失败 5 次锁定 10 分钟，成功与失败都写入登录日志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675888"/>
            <a:ext cx="420624" cy="420624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zh-CN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6393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密码校验</a:t>
            </a:r>
            <a:endParaRPr lang="zh-CN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9502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BCrypt 哈希比对，历史明文密码首次登录自动升级</a:t>
            </a:r>
            <a:endParaRPr lang="zh-CN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462272"/>
            <a:ext cx="420624" cy="420624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zh-CN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42569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签发令牌</a:t>
            </a:r>
            <a:endParaRPr lang="zh-CN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JWT（默认 2 小时有效），前端持久化保存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248656"/>
            <a:ext cx="420624" cy="420624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zh-CN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5212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逐请求校验</a:t>
            </a:r>
            <a:endParaRPr lang="zh-CN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522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请求头携带 token，JwtInterceptor 解析当前用户</a:t>
            </a:r>
            <a:endParaRPr lang="zh-CN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57276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四层权限控制</a:t>
            </a:r>
            <a:endParaRPr lang="zh-CN" sz="1600" dirty="0"/>
          </a:p>
        </p:txBody>
      </p:sp>
      <p:sp>
        <p:nvSpPr>
          <p:cNvPr id="22" name="Shape 20"/>
          <p:cNvSpPr/>
          <p:nvPr/>
        </p:nvSpPr>
        <p:spPr>
          <a:xfrm>
            <a:off x="6172200" y="2103120"/>
            <a:ext cx="5470855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81928" y="2203704"/>
            <a:ext cx="960120" cy="402336"/>
          </a:xfrm>
          <a:prstGeom prst="roundRect">
            <a:avLst>
              <a:gd name="adj" fmla="val 18182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路由层</a:t>
            </a:r>
            <a:endParaRPr lang="zh-CN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210312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meta.roles 角色白名单 + 权限码守卫，越权跳转 403 页</a:t>
            </a:r>
            <a:endParaRPr lang="zh-CN" sz="1250" dirty="0"/>
          </a:p>
        </p:txBody>
      </p:sp>
      <p:sp>
        <p:nvSpPr>
          <p:cNvPr id="25" name="Shape 23"/>
          <p:cNvSpPr/>
          <p:nvPr/>
        </p:nvSpPr>
        <p:spPr>
          <a:xfrm>
            <a:off x="6172200" y="2834640"/>
            <a:ext cx="5470855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81928" y="2935224"/>
            <a:ext cx="960120" cy="402336"/>
          </a:xfrm>
          <a:prstGeom prst="roundRect">
            <a:avLst>
              <a:gd name="adj" fmla="val 18182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菜单层</a:t>
            </a:r>
            <a:endParaRPr lang="zh-CN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283464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侧边栏按角色与权限码过滤，无权限的菜单不显示</a:t>
            </a:r>
            <a:endParaRPr lang="zh-CN" sz="1250" dirty="0"/>
          </a:p>
        </p:txBody>
      </p:sp>
      <p:sp>
        <p:nvSpPr>
          <p:cNvPr id="28" name="Shape 26"/>
          <p:cNvSpPr/>
          <p:nvPr/>
        </p:nvSpPr>
        <p:spPr>
          <a:xfrm>
            <a:off x="6172200" y="3566160"/>
            <a:ext cx="5470855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81928" y="3666744"/>
            <a:ext cx="960120" cy="402336"/>
          </a:xfrm>
          <a:prstGeom prst="roundRect">
            <a:avLst>
              <a:gd name="adj" fmla="val 18182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按钮层</a:t>
            </a:r>
            <a:endParaRPr lang="zh-CN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06640" y="356616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v-permission 指令控制新增、删除、导出等操作按钮</a:t>
            </a:r>
            <a:endParaRPr lang="zh-CN" sz="1250" dirty="0"/>
          </a:p>
        </p:txBody>
      </p:sp>
      <p:sp>
        <p:nvSpPr>
          <p:cNvPr id="31" name="Shape 29"/>
          <p:cNvSpPr/>
          <p:nvPr/>
        </p:nvSpPr>
        <p:spPr>
          <a:xfrm>
            <a:off x="6172200" y="4297680"/>
            <a:ext cx="5470855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81928" y="4398264"/>
            <a:ext cx="960120" cy="402336"/>
          </a:xfrm>
          <a:prstGeom prst="roundRect">
            <a:avLst>
              <a:gd name="adj" fmla="val 18182"/>
            </a:avLst>
          </a:prstGeom>
          <a:solidFill>
            <a:srgbClr val="4F46E5"/>
          </a:solidFill>
          <a:ln>
            <a:solidFill>
              <a:srgbClr val="4F46E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接口层</a:t>
            </a:r>
            <a:endParaRPr lang="zh-CN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06640" y="429768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@RequirePermission + AOP 切面逐请求判定，绕过前端也无法越权</a:t>
            </a:r>
            <a:endParaRPr lang="zh-CN" sz="1250" dirty="0"/>
          </a:p>
        </p:txBody>
      </p:sp>
      <p:sp>
        <p:nvSpPr>
          <p:cNvPr id="34" name="Shape 32"/>
          <p:cNvSpPr/>
          <p:nvPr/>
        </p:nvSpPr>
        <p:spPr>
          <a:xfrm>
            <a:off x="6172200" y="5120640"/>
            <a:ext cx="5470855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55080" y="5321808"/>
            <a:ext cx="457200" cy="457200"/>
          </a:xfrm>
          <a:prstGeom prst="ellipse">
            <a:avLst/>
          </a:prstGeom>
          <a:solidFill>
            <a:srgbClr val="F59E0B"/>
          </a:solidFill>
          <a:ln w="6350">
            <a:solidFill>
              <a:srgbClr val="F59E0B"/>
            </a:solidFill>
            <a:prstDash val="solid"/>
          </a:ln>
        </p:spPr>
      </p:sp>
      <p:pic>
        <p:nvPicPr>
          <p:cNvPr id="36" name="Image 0" descr="C:\Users\Administrator\AppData\Local\Temp\claude\D--BISHE-BISHE-Software-manager-vue3\99644240-cb63-4863-810a-499e789ad21e\scratchpad\ppt\icons\Key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0236" y="5426964"/>
            <a:ext cx="246888" cy="24688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6949440" y="5175504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权限点与角色授权存于 sys_permission、sys_role_permission 表；管理员在【权限设置】页勾选后即时生效（自动刷新权限缓存），ADMIN 超级管理员直接放行。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基于物品的协同过滤课程推荐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关键技术与实现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627632"/>
          </a:xfrm>
          <a:prstGeom prst="roundRect">
            <a:avLst>
              <a:gd name="adj" fmla="val 6742"/>
            </a:avLst>
          </a:prstGeom>
          <a:solidFill>
            <a:srgbClr val="1E1B4B"/>
          </a:solidFill>
          <a:ln w="6350">
            <a:solidFill>
              <a:srgbClr val="1E1B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19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课程相似度（余弦相似度）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sim(A, B) =</a:t>
            </a:r>
            <a:endParaRPr lang="zh-CN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0116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|U(A) ∩ U(B)|</a:t>
            </a:r>
            <a:endParaRPr lang="zh-CN" sz="1800" dirty="0"/>
          </a:p>
        </p:txBody>
      </p:sp>
      <p:sp>
        <p:nvSpPr>
          <p:cNvPr id="8" name="Shape 6"/>
          <p:cNvSpPr/>
          <p:nvPr/>
        </p:nvSpPr>
        <p:spPr>
          <a:xfrm>
            <a:off x="2606040" y="2395728"/>
            <a:ext cx="28346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243230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√( |U(A)| · |U(B)| )</a:t>
            </a:r>
            <a:endParaRPr lang="zh-CN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U(X)：选修了课程 X 的学生集合</a:t>
            </a:r>
            <a:endParaRPr lang="zh-CN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511296"/>
            <a:ext cx="384048" cy="384048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zh-CN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474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构建选课矩阵</a:t>
            </a:r>
            <a:endParaRPr lang="zh-CN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7581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由选课记录构建「学生 × 课程」0/1 矩阵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178808"/>
            <a:ext cx="384048" cy="384048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zh-CN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422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计算课程相似度</a:t>
            </a:r>
            <a:endParaRPr lang="zh-CN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4256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两门课被同一批学生选修得越多，相似度越高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384048" cy="384048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zh-CN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097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打分与排序</a:t>
            </a:r>
            <a:endParaRPr lang="zh-CN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0932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候选课得分 = 与已选课程相似度之和，排除已选后取前 N 门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5513832"/>
            <a:ext cx="384048" cy="384048"/>
          </a:xfrm>
          <a:prstGeom prst="ellipse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zh-CN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772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冷启动降级</a:t>
            </a:r>
            <a:endParaRPr lang="zh-C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7607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无选课记录或相似度均为 0 时，按选课人数推荐热门课程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1600200"/>
            <a:ext cx="5379415" cy="2514600"/>
          </a:xfrm>
          <a:prstGeom prst="roundRect">
            <a:avLst>
              <a:gd name="adj" fmla="val 4364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171907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计算示例（4 名学生 × 3 门课程）</a:t>
            </a:r>
            <a:endParaRPr lang="zh-CN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130552"/>
          <a:ext cx="28346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685800"/>
                <a:gridCol w="6858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课程 A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课程 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课程 C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7415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学生 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7415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学生 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7415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学生 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7415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学生 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9509760" y="2130552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zh-CN" altLang="en-US" sz="11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sim(A, B) = 2 / √(3×3) ≈ 0.67</a:t>
            </a:r>
            <a:endParaRPr lang="zh-CN" sz="1150" dirty="0"/>
          </a:p>
          <a:p>
            <a:pPr indent="0" marL="0">
              <a:lnSpc>
                <a:spcPct val="135000"/>
              </a:lnSpc>
              <a:buNone/>
            </a:pPr>
            <a:r>
              <a:rPr lang="zh-CN" altLang="en-US" sz="11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sim(A, C) = 2 / √(3×2) ≈ 0.82</a:t>
            </a:r>
            <a:endParaRPr lang="zh-CN" sz="1150" dirty="0"/>
          </a:p>
          <a:p>
            <a:pPr indent="0" marL="0">
              <a:lnSpc>
                <a:spcPct val="135000"/>
              </a:lnSpc>
              <a:buNone/>
            </a:pPr>
            <a:r>
              <a:rPr lang="zh-CN" altLang="en-US" sz="11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只选了 A 的同学：</a:t>
            </a:r>
            <a:endParaRPr lang="zh-CN" sz="1150" dirty="0"/>
          </a:p>
          <a:p>
            <a:pPr indent="0" marL="0">
              <a:lnSpc>
                <a:spcPct val="135000"/>
              </a:lnSpc>
              <a:buNone/>
            </a:pPr>
            <a:r>
              <a:rPr lang="zh-CN" altLang="en-US" sz="11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 C（0.82）&gt; B（0.67）</a:t>
            </a:r>
            <a:endParaRPr lang="zh-CN" sz="1150" dirty="0"/>
          </a:p>
        </p:txBody>
      </p:sp>
      <p:sp>
        <p:nvSpPr>
          <p:cNvPr id="27" name="Shape 24"/>
          <p:cNvSpPr/>
          <p:nvPr/>
        </p:nvSpPr>
        <p:spPr>
          <a:xfrm>
            <a:off x="6263640" y="4315968"/>
            <a:ext cx="5379415" cy="1319678"/>
          </a:xfrm>
          <a:prstGeom prst="roundRect">
            <a:avLst>
              <a:gd name="adj" fmla="val 5543"/>
            </a:avLst>
          </a:prstGeom>
          <a:solidFill>
            <a:srgbClr val="E9EBF2"/>
          </a:solidFill>
          <a:ln w="9525">
            <a:solidFill>
              <a:srgbClr val="D6D9E4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391656" y="4399178"/>
            <a:ext cx="71323" cy="71323"/>
          </a:xfrm>
          <a:prstGeom prst="ellipse">
            <a:avLst/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12905" y="4399178"/>
            <a:ext cx="71323" cy="71323"/>
          </a:xfrm>
          <a:prstGeom prst="ellipse">
            <a:avLst/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4155" y="4399178"/>
            <a:ext cx="71323" cy="71323"/>
          </a:xfrm>
          <a:prstGeom prst="ellipse">
            <a:avLst/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pic>
        <p:nvPicPr>
          <p:cNvPr id="31" name="Image 0" descr="C:\Users\Administrator\AppData\Local\Temp\claude\D--BISHE-BISHE-Software-manager-vue3\99644240-cb63-4863-810a-499e789ad21e\scratchpad\ppt\shots\n_recomm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0216" y="4553712"/>
            <a:ext cx="5306263" cy="104535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263640" y="5708798"/>
            <a:ext cx="5379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系统效果：学生端「我的选课」页顶部的「为你推荐」卡片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多指标加权的学业预警模型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关键技术与实现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035040" cy="1463040"/>
          </a:xfrm>
          <a:prstGeom prst="roundRect">
            <a:avLst>
              <a:gd name="adj" fmla="val 7500"/>
            </a:avLst>
          </a:prstGeom>
          <a:solidFill>
            <a:srgbClr val="1E1B4B"/>
          </a:solidFill>
          <a:ln w="6350">
            <a:solidFill>
              <a:srgbClr val="1E1B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824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风险指数 R（0 ~ 100）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</a:t>
            </a:r>
            <a:endParaRPr lang="zh-CN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011680"/>
            <a:ext cx="1444752" cy="658368"/>
          </a:xfrm>
          <a:prstGeom prst="roundRect">
            <a:avLst>
              <a:gd name="adj" fmla="val 11111"/>
            </a:avLst>
          </a:prstGeom>
          <a:solidFill>
            <a:srgbClr val="3730A3"/>
          </a:solidFill>
          <a:ln>
            <a:solidFill>
              <a:srgbClr val="3730A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不及格占比</a:t>
            </a:r>
            <a:endParaRPr lang="zh-CN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CN" alt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40</a:t>
            </a:r>
            <a:endParaRPr lang="zh-CN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2011680"/>
            <a:ext cx="256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zh-CN" sz="1800" dirty="0"/>
          </a:p>
        </p:txBody>
      </p:sp>
      <p:sp>
        <p:nvSpPr>
          <p:cNvPr id="9" name="Text 7"/>
          <p:cNvSpPr/>
          <p:nvPr/>
        </p:nvSpPr>
        <p:spPr>
          <a:xfrm>
            <a:off x="3163824" y="2011680"/>
            <a:ext cx="1444752" cy="658368"/>
          </a:xfrm>
          <a:prstGeom prst="roundRect">
            <a:avLst>
              <a:gd name="adj" fmla="val 11111"/>
            </a:avLst>
          </a:prstGeom>
          <a:solidFill>
            <a:srgbClr val="3730A3"/>
          </a:solidFill>
          <a:ln>
            <a:solidFill>
              <a:srgbClr val="3730A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平均分差距</a:t>
            </a:r>
            <a:endParaRPr lang="zh-CN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CN" alt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30</a:t>
            </a:r>
            <a:endParaRPr lang="zh-CN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011680"/>
            <a:ext cx="256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zh-CN" sz="1800" dirty="0"/>
          </a:p>
        </p:txBody>
      </p:sp>
      <p:sp>
        <p:nvSpPr>
          <p:cNvPr id="11" name="Text 9"/>
          <p:cNvSpPr/>
          <p:nvPr/>
        </p:nvSpPr>
        <p:spPr>
          <a:xfrm>
            <a:off x="4864608" y="2011680"/>
            <a:ext cx="1444752" cy="658368"/>
          </a:xfrm>
          <a:prstGeom prst="roundRect">
            <a:avLst>
              <a:gd name="adj" fmla="val 11111"/>
            </a:avLst>
          </a:prstGeom>
          <a:solidFill>
            <a:srgbClr val="3730A3"/>
          </a:solidFill>
          <a:ln>
            <a:solidFill>
              <a:srgbClr val="3730A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异常考勤率</a:t>
            </a:r>
            <a:endParaRPr lang="zh-CN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CN" alt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30</a:t>
            </a:r>
            <a:endParaRPr lang="zh-CN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43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异常考勤：缺勤计 1 次，迟到、早退各计 0.5 次</a:t>
            </a:r>
            <a:endParaRPr lang="zh-CN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461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预警等级</a:t>
            </a:r>
            <a:endParaRPr lang="zh-CN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1453896" cy="777240"/>
          </a:xfrm>
          <a:prstGeom prst="roundRect">
            <a:avLst>
              <a:gd name="adj" fmla="val 9412"/>
            </a:avLst>
          </a:prstGeom>
          <a:solidFill>
            <a:srgbClr val="E0E7FF"/>
          </a:solidFill>
          <a:ln>
            <a:solidFill>
              <a:srgbClr val="E0E7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E1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1E1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&lt; 10</a:t>
            </a:r>
            <a:endParaRPr lang="zh-CN" sz="1300" dirty="0"/>
          </a:p>
        </p:txBody>
      </p:sp>
      <p:sp>
        <p:nvSpPr>
          <p:cNvPr id="15" name="Text 13"/>
          <p:cNvSpPr/>
          <p:nvPr/>
        </p:nvSpPr>
        <p:spPr>
          <a:xfrm>
            <a:off x="2075688" y="3639312"/>
            <a:ext cx="1453896" cy="777240"/>
          </a:xfrm>
          <a:prstGeom prst="roundRect">
            <a:avLst>
              <a:gd name="adj" fmla="val 9412"/>
            </a:avLst>
          </a:prstGeom>
          <a:solidFill>
            <a:srgbClr val="FFEDD5"/>
          </a:solidFill>
          <a:ln>
            <a:solidFill>
              <a:srgbClr val="FFEDD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7C2D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低风险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C2D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≥ 10</a:t>
            </a:r>
            <a:endParaRPr lang="zh-CN" sz="1300" dirty="0"/>
          </a:p>
        </p:txBody>
      </p:sp>
      <p:sp>
        <p:nvSpPr>
          <p:cNvPr id="16" name="Text 14"/>
          <p:cNvSpPr/>
          <p:nvPr/>
        </p:nvSpPr>
        <p:spPr>
          <a:xfrm>
            <a:off x="3602736" y="3639312"/>
            <a:ext cx="1453896" cy="777240"/>
          </a:xfrm>
          <a:prstGeom prst="roundRect">
            <a:avLst>
              <a:gd name="adj" fmla="val 9412"/>
            </a:avLst>
          </a:prstGeom>
          <a:solidFill>
            <a:srgbClr val="FDBA74"/>
          </a:solidFill>
          <a:ln>
            <a:solidFill>
              <a:srgbClr val="FDBA7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7C2D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中风险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C2D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≥ 30</a:t>
            </a:r>
            <a:endParaRPr lang="zh-CN" sz="1300" dirty="0"/>
          </a:p>
        </p:txBody>
      </p:sp>
      <p:sp>
        <p:nvSpPr>
          <p:cNvPr id="17" name="Text 15"/>
          <p:cNvSpPr/>
          <p:nvPr/>
        </p:nvSpPr>
        <p:spPr>
          <a:xfrm>
            <a:off x="5129784" y="3639312"/>
            <a:ext cx="1453896" cy="777240"/>
          </a:xfrm>
          <a:prstGeom prst="roundRect">
            <a:avLst>
              <a:gd name="adj" fmla="val 9412"/>
            </a:avLst>
          </a:prstGeom>
          <a:solidFill>
            <a:srgbClr val="C2410C"/>
          </a:solidFill>
          <a:ln>
            <a:solidFill>
              <a:srgbClr val="C2410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≥ 60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663440"/>
            <a:ext cx="179862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7548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计算风险指数</a:t>
            </a:r>
            <a:endParaRPr lang="zh-CN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120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按角色隔离数据范围：管理员全部、教师任课学生、学生本人</a:t>
            </a:r>
            <a:endParaRPr lang="zh-CN" sz="1150" dirty="0"/>
          </a:p>
        </p:txBody>
      </p:sp>
      <p:sp>
        <p:nvSpPr>
          <p:cNvPr id="21" name="Shape 19"/>
          <p:cNvSpPr/>
          <p:nvPr/>
        </p:nvSpPr>
        <p:spPr>
          <a:xfrm>
            <a:off x="2377440" y="5394960"/>
            <a:ext cx="256032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667305" y="4663440"/>
            <a:ext cx="179862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04465" y="47548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分级展示</a:t>
            </a:r>
            <a:endParaRPr lang="zh-CN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2804465" y="5120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预警页列出风险等级、各项指标与处理建议</a:t>
            </a:r>
            <a:endParaRPr lang="zh-CN" sz="1150" dirty="0"/>
          </a:p>
        </p:txBody>
      </p:sp>
      <p:sp>
        <p:nvSpPr>
          <p:cNvPr id="25" name="Shape 23"/>
          <p:cNvSpPr/>
          <p:nvPr/>
        </p:nvSpPr>
        <p:spPr>
          <a:xfrm>
            <a:off x="4496105" y="5394960"/>
            <a:ext cx="256032" cy="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785970" y="4663440"/>
            <a:ext cx="179862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23130" y="47548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推送提醒</a:t>
            </a:r>
            <a:endParaRPr lang="zh-CN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923130" y="5120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 / 管理员一键提醒，WebSocket 实时送达学生</a:t>
            </a:r>
            <a:endParaRPr lang="zh-CN" sz="1150" dirty="0"/>
          </a:p>
        </p:txBody>
      </p:sp>
      <p:sp>
        <p:nvSpPr>
          <p:cNvPr id="29" name="Shape 27"/>
          <p:cNvSpPr/>
          <p:nvPr/>
        </p:nvSpPr>
        <p:spPr>
          <a:xfrm>
            <a:off x="7086600" y="1572768"/>
            <a:ext cx="2103120" cy="4402344"/>
          </a:xfrm>
          <a:prstGeom prst="roundRect">
            <a:avLst>
              <a:gd name="adj" fmla="val 8696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22000"/>
              </a:srgbClr>
            </a:outerShdw>
          </a:effectLst>
        </p:spPr>
      </p:sp>
      <p:pic>
        <p:nvPicPr>
          <p:cNvPr id="30" name="Image 0" descr="C:\Users\Administrator\AppData\Local\Temp\claude\D--BISHE-BISHE-Software-manager-vue3\99644240-cb63-4863-810a-499e789ad21e\scratchpad\ppt\shots\m_teacher_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08" y="1636776"/>
            <a:ext cx="1975104" cy="42743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9464040" y="1783080"/>
            <a:ext cx="329184" cy="329184"/>
          </a:xfrm>
          <a:prstGeom prst="ellipse">
            <a:avLst/>
          </a:prstGeom>
          <a:solidFill>
            <a:srgbClr val="F59E0B"/>
          </a:solidFill>
          <a:ln w="9525">
            <a:solidFill>
              <a:srgbClr val="F59E0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E1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zh-CN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9921240" y="17556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风险等级标签</a:t>
            </a:r>
            <a:endParaRPr lang="zh-CN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2093976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高风险、正常等标签醒目</a:t>
            </a:r>
            <a:endParaRPr lang="zh-CN" sz="1150" dirty="0"/>
          </a:p>
        </p:txBody>
      </p:sp>
      <p:sp>
        <p:nvSpPr>
          <p:cNvPr id="34" name="Text 31"/>
          <p:cNvSpPr/>
          <p:nvPr/>
        </p:nvSpPr>
        <p:spPr>
          <a:xfrm>
            <a:off x="9464040" y="2770632"/>
            <a:ext cx="329184" cy="329184"/>
          </a:xfrm>
          <a:prstGeom prst="ellipse">
            <a:avLst/>
          </a:prstGeom>
          <a:solidFill>
            <a:srgbClr val="F59E0B"/>
          </a:solidFill>
          <a:ln w="9525">
            <a:solidFill>
              <a:srgbClr val="F59E0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E1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zh-CN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921240" y="2743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风险指数进度条</a:t>
            </a:r>
            <a:endParaRPr lang="zh-CN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9921240" y="308152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指数越高，进度条越长</a:t>
            </a:r>
            <a:endParaRPr lang="zh-CN" sz="1150" dirty="0"/>
          </a:p>
        </p:txBody>
      </p:sp>
      <p:sp>
        <p:nvSpPr>
          <p:cNvPr id="37" name="Text 34"/>
          <p:cNvSpPr/>
          <p:nvPr/>
        </p:nvSpPr>
        <p:spPr>
          <a:xfrm>
            <a:off x="9464040" y="3758184"/>
            <a:ext cx="329184" cy="329184"/>
          </a:xfrm>
          <a:prstGeom prst="ellipse">
            <a:avLst/>
          </a:prstGeom>
          <a:solidFill>
            <a:srgbClr val="F59E0B"/>
          </a:solidFill>
          <a:ln w="9525">
            <a:solidFill>
              <a:srgbClr val="F59E0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E1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zh-CN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9921240" y="373075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四项指标</a:t>
            </a:r>
            <a:endParaRPr lang="zh-CN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069080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平均分、不及格门数、修读门数、异常考勤率</a:t>
            </a:r>
            <a:endParaRPr lang="zh-CN" sz="1150" dirty="0"/>
          </a:p>
        </p:txBody>
      </p:sp>
      <p:sp>
        <p:nvSpPr>
          <p:cNvPr id="40" name="Text 37"/>
          <p:cNvSpPr/>
          <p:nvPr/>
        </p:nvSpPr>
        <p:spPr>
          <a:xfrm>
            <a:off x="9464040" y="4745736"/>
            <a:ext cx="329184" cy="329184"/>
          </a:xfrm>
          <a:prstGeom prst="ellipse">
            <a:avLst/>
          </a:prstGeom>
          <a:solidFill>
            <a:srgbClr val="F59E0B"/>
          </a:solidFill>
          <a:ln w="9525">
            <a:solidFill>
              <a:srgbClr val="F59E0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E1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zh-CN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9921240" y="471830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处理建议与提醒</a:t>
            </a:r>
            <a:endParaRPr lang="zh-CN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9921240" y="5056632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给出建议，并可一键提醒</a:t>
            </a:r>
            <a:endParaRPr lang="zh-CN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7086600" y="60299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小程序端 · 教师视角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WebSocket 实时通知与多端偏好同步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关键技术与实现</a:t>
            </a:r>
            <a:endParaRPr lang="zh-CN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触发事件</a:t>
            </a:r>
            <a:endParaRPr lang="zh-CN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3017520" cy="310896"/>
          </a:xfrm>
          <a:prstGeom prst="roundRect">
            <a:avLst>
              <a:gd name="adj" fmla="val 23529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127000" tIns="0" rIns="12700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成绩录入 / 修改</a:t>
            </a:r>
            <a:endParaRPr lang="zh-CN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304288"/>
            <a:ext cx="3017520" cy="310896"/>
          </a:xfrm>
          <a:prstGeom prst="roundRect">
            <a:avLst>
              <a:gd name="adj" fmla="val 23529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127000" tIns="0" rIns="12700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请假审核结果</a:t>
            </a:r>
            <a:endParaRPr lang="zh-CN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688336"/>
            <a:ext cx="3017520" cy="310896"/>
          </a:xfrm>
          <a:prstGeom prst="roundRect">
            <a:avLst>
              <a:gd name="adj" fmla="val 23529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127000" tIns="0" rIns="12700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作业提交 / 批改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072384"/>
            <a:ext cx="3017520" cy="310896"/>
          </a:xfrm>
          <a:prstGeom prst="roundRect">
            <a:avLst>
              <a:gd name="adj" fmla="val 23529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127000" tIns="0" rIns="12700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学业预警提醒</a:t>
            </a:r>
            <a:endParaRPr lang="zh-CN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456432"/>
            <a:ext cx="3017520" cy="310896"/>
          </a:xfrm>
          <a:prstGeom prst="roundRect">
            <a:avLst>
              <a:gd name="adj" fmla="val 23529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127000" tIns="0" rIns="12700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发布教务通知（全员广播）</a:t>
            </a:r>
            <a:endParaRPr lang="zh-CN" sz="1200" dirty="0"/>
          </a:p>
        </p:txBody>
      </p:sp>
      <p:sp>
        <p:nvSpPr>
          <p:cNvPr id="10" name="Shape 8"/>
          <p:cNvSpPr/>
          <p:nvPr/>
        </p:nvSpPr>
        <p:spPr>
          <a:xfrm>
            <a:off x="3639312" y="2770632"/>
            <a:ext cx="493776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06240" y="1965960"/>
            <a:ext cx="3566160" cy="1609344"/>
          </a:xfrm>
          <a:prstGeom prst="roundRect">
            <a:avLst>
              <a:gd name="adj" fmla="val 6818"/>
            </a:avLst>
          </a:prstGeom>
          <a:solidFill>
            <a:srgbClr val="1E1B4B"/>
          </a:solidFill>
          <a:ln w="6350">
            <a:solidFill>
              <a:srgbClr val="1E1B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4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NoticeWebSocketServer</a:t>
            </a:r>
            <a:endParaRPr lang="zh-CN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54203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连接时校验 token；按「用户ID-角色」登记在线连接；支持定点推送与全员广播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 flipV="1">
            <a:off x="7818120" y="2331720"/>
            <a:ext cx="548640" cy="18288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818120" y="3017520"/>
            <a:ext cx="548640" cy="292608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412480" y="1920240"/>
            <a:ext cx="3230575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2057400"/>
            <a:ext cx="384048" cy="38404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8" name="Image 0" descr="C:\Users\Administrator\AppData\Local\Temp\claude\D--BISHE-BISHE-Software-manager-vue3\99644240-cb63-4863-810a-499e789ad21e\scratchpad\ppt\icons\Monitor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7971" y="2145731"/>
            <a:ext cx="207386" cy="20738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034272" y="20116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</a:t>
            </a:r>
            <a:endParaRPr lang="zh-CN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9034272" y="23042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右上角弹出通知；断线 10 秒自动重连</a:t>
            </a:r>
            <a:endParaRPr lang="zh-CN" sz="1150" dirty="0"/>
          </a:p>
        </p:txBody>
      </p:sp>
      <p:sp>
        <p:nvSpPr>
          <p:cNvPr id="21" name="Shape 18"/>
          <p:cNvSpPr/>
          <p:nvPr/>
        </p:nvSpPr>
        <p:spPr>
          <a:xfrm>
            <a:off x="8412480" y="2852928"/>
            <a:ext cx="3230575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E0E7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49640" y="2990088"/>
            <a:ext cx="384048" cy="38404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23" name="Image 1" descr="C:\Users\Administrator\AppData\Local\Temp\claude\D--BISHE-BISHE-Software-manager-vue3\99644240-cb63-4863-810a-499e789ad21e\scratchpad\ppt\icons\Iphon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7971" y="3078419"/>
            <a:ext cx="207386" cy="20738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34272" y="29443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微信小程序</a:t>
            </a:r>
            <a:endParaRPr lang="zh-CN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9034272" y="3236976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首页未读角标 + 消息中心；心跳保活、指数退避重连</a:t>
            </a:r>
            <a:endParaRPr lang="zh-CN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114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多端偏好同步</a:t>
            </a:r>
            <a:endParaRPr lang="zh-CN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455371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主题、语言与主题色存入账号表；</a:t>
            </a:r>
            <a:endParaRPr lang="zh-CN" sz="125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登录后自动拉取，修改后防抖推送；</a:t>
            </a:r>
            <a:endParaRPr lang="zh-CN" sz="125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同一账号在 Web 与小程序上一致。</a:t>
            </a:r>
            <a:endParaRPr lang="zh-CN" sz="1250" dirty="0"/>
          </a:p>
        </p:txBody>
      </p:sp>
      <p:sp>
        <p:nvSpPr>
          <p:cNvPr id="28" name="Shape 24"/>
          <p:cNvSpPr/>
          <p:nvPr/>
        </p:nvSpPr>
        <p:spPr>
          <a:xfrm>
            <a:off x="3749040" y="4160520"/>
            <a:ext cx="2509114" cy="1607972"/>
          </a:xfrm>
          <a:prstGeom prst="roundRect">
            <a:avLst>
              <a:gd name="adj" fmla="val 4549"/>
            </a:avLst>
          </a:prstGeom>
          <a:solidFill>
            <a:srgbClr val="E9EBF2"/>
          </a:solidFill>
          <a:ln w="9525">
            <a:solidFill>
              <a:srgbClr val="D6D9E4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1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3877056" y="4230929"/>
            <a:ext cx="60350" cy="60350"/>
          </a:xfrm>
          <a:prstGeom prst="ellipse">
            <a:avLst/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3979652" y="4230929"/>
            <a:ext cx="60350" cy="60350"/>
          </a:xfrm>
          <a:prstGeom prst="ellipse">
            <a:avLst/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082247" y="4230929"/>
            <a:ext cx="60350" cy="60350"/>
          </a:xfrm>
          <a:prstGeom prst="ellipse">
            <a:avLst/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pic>
        <p:nvPicPr>
          <p:cNvPr id="32" name="Image 2" descr="C:\Users\Administrator\AppData\Local\Temp\claude\D--BISHE-BISHE-Software-manager-vue3\99644240-cb63-4863-810a-499e789ad21e\scratchpad\ppt\shots\admin_home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4361688"/>
            <a:ext cx="2435962" cy="137022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3749040" y="5823356"/>
            <a:ext cx="25091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深色模式</a:t>
            </a:r>
            <a:endParaRPr lang="zh-CN" sz="1150" dirty="0"/>
          </a:p>
        </p:txBody>
      </p:sp>
      <p:sp>
        <p:nvSpPr>
          <p:cNvPr id="34" name="Shape 29"/>
          <p:cNvSpPr/>
          <p:nvPr/>
        </p:nvSpPr>
        <p:spPr>
          <a:xfrm>
            <a:off x="6441034" y="4160520"/>
            <a:ext cx="2509114" cy="1607972"/>
          </a:xfrm>
          <a:prstGeom prst="roundRect">
            <a:avLst>
              <a:gd name="adj" fmla="val 4549"/>
            </a:avLst>
          </a:prstGeom>
          <a:solidFill>
            <a:srgbClr val="E9EBF2"/>
          </a:solidFill>
          <a:ln w="9525">
            <a:solidFill>
              <a:srgbClr val="D6D9E4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16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6569050" y="4230929"/>
            <a:ext cx="60350" cy="60350"/>
          </a:xfrm>
          <a:prstGeom prst="ellipse">
            <a:avLst/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671645" y="4230929"/>
            <a:ext cx="60350" cy="60350"/>
          </a:xfrm>
          <a:prstGeom prst="ellipse">
            <a:avLst/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774241" y="4230929"/>
            <a:ext cx="60350" cy="60350"/>
          </a:xfrm>
          <a:prstGeom prst="ellipse">
            <a:avLst/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pic>
        <p:nvPicPr>
          <p:cNvPr id="38" name="Image 3" descr="C:\Users\Administrator\AppData\Local\Temp\claude\D--BISHE-BISHE-Software-manager-vue3\99644240-cb63-4863-810a-499e789ad21e\scratchpad\ppt\shots\admin_home_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4361688"/>
            <a:ext cx="2435962" cy="137022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6441034" y="5823356"/>
            <a:ext cx="25091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English 界面</a:t>
            </a:r>
            <a:endParaRPr lang="zh-CN" sz="1150" dirty="0"/>
          </a:p>
        </p:txBody>
      </p:sp>
      <p:sp>
        <p:nvSpPr>
          <p:cNvPr id="40" name="Shape 34"/>
          <p:cNvSpPr/>
          <p:nvPr/>
        </p:nvSpPr>
        <p:spPr>
          <a:xfrm>
            <a:off x="9133027" y="4160520"/>
            <a:ext cx="2509114" cy="1607972"/>
          </a:xfrm>
          <a:prstGeom prst="roundRect">
            <a:avLst>
              <a:gd name="adj" fmla="val 4549"/>
            </a:avLst>
          </a:prstGeom>
          <a:solidFill>
            <a:srgbClr val="E9EBF2"/>
          </a:solidFill>
          <a:ln w="9525">
            <a:solidFill>
              <a:srgbClr val="D6D9E4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16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9261043" y="4230929"/>
            <a:ext cx="60350" cy="60350"/>
          </a:xfrm>
          <a:prstGeom prst="ellipse">
            <a:avLst/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9363639" y="4230929"/>
            <a:ext cx="60350" cy="60350"/>
          </a:xfrm>
          <a:prstGeom prst="ellipse">
            <a:avLst/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9466235" y="4230929"/>
            <a:ext cx="60350" cy="60350"/>
          </a:xfrm>
          <a:prstGeom prst="ellipse">
            <a:avLst/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pic>
        <p:nvPicPr>
          <p:cNvPr id="44" name="Image 4" descr="C:\Users\Administrator\AppData\Local\Temp\claude\D--BISHE-BISHE-Software-manager-vue3\99644240-cb63-4863-810a-499e789ad21e\scratchpad\ppt\shots\admin_hom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9603" y="4361688"/>
            <a:ext cx="2435962" cy="1370228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9133027" y="5823356"/>
            <a:ext cx="25091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自定义主题色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管理端：登录页与系统首页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系统展示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330131"/>
          </a:xfrm>
          <a:prstGeom prst="roundRect">
            <a:avLst>
              <a:gd name="adj" fmla="val 2197"/>
            </a:avLst>
          </a:prstGeom>
          <a:solidFill>
            <a:srgbClr val="E9EBF2"/>
          </a:solidFill>
          <a:ln w="9525">
            <a:solidFill>
              <a:srgbClr val="D6D9E4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696212"/>
            <a:ext cx="82296" cy="82296"/>
          </a:xfrm>
          <a:prstGeom prst="ellipse">
            <a:avLst/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6559" y="1696212"/>
            <a:ext cx="82296" cy="82296"/>
          </a:xfrm>
          <a:prstGeom prst="ellipse">
            <a:avLst/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6462" y="1696212"/>
            <a:ext cx="82296" cy="82296"/>
          </a:xfrm>
          <a:prstGeom prst="ellipse">
            <a:avLst/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25296" y="1649578"/>
            <a:ext cx="2448306" cy="17556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76200" tIns="0" rIns="76200" bIns="0" rtlCol="0" anchor="ctr"/>
          <a:lstStyle/>
          <a:p>
            <a:pPr algn="l" indent="0" marL="0">
              <a:buNone/>
            </a:pPr>
            <a:r>
              <a:rPr lang="zh-CN" altLang="en-US" sz="8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localhost:8080/login</a:t>
            </a:r>
            <a:endParaRPr lang="zh-CN" sz="800" dirty="0"/>
          </a:p>
        </p:txBody>
      </p:sp>
      <p:pic>
        <p:nvPicPr>
          <p:cNvPr id="9" name="Image 0" descr="C:\Users\Administrator\AppData\Local\Temp\claude\D--BISHE-BISHE-Software-manager-vue3\99644240-cb63-4863-810a-499e789ad21e\scratchpad\ppt\shot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874520"/>
            <a:ext cx="5367528" cy="301923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094922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登录页</a:t>
            </a:r>
            <a:endParaRPr lang="zh-CN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424107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 + 密码 + 图形验证码 + 角色选择；右上角可切换语言与深浅色主题，新用户可自助注册</a:t>
            </a:r>
            <a:endParaRPr lang="zh-CN" sz="1250" dirty="0"/>
          </a:p>
        </p:txBody>
      </p:sp>
      <p:sp>
        <p:nvSpPr>
          <p:cNvPr id="12" name="Shape 9"/>
          <p:cNvSpPr/>
          <p:nvPr/>
        </p:nvSpPr>
        <p:spPr>
          <a:xfrm>
            <a:off x="6202375" y="1600200"/>
            <a:ext cx="5440680" cy="3330131"/>
          </a:xfrm>
          <a:prstGeom prst="roundRect">
            <a:avLst>
              <a:gd name="adj" fmla="val 2197"/>
            </a:avLst>
          </a:prstGeom>
          <a:solidFill>
            <a:srgbClr val="E9EBF2"/>
          </a:solidFill>
          <a:ln w="9525">
            <a:solidFill>
              <a:srgbClr val="D6D9E4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30391" y="1696212"/>
            <a:ext cx="82296" cy="82296"/>
          </a:xfrm>
          <a:prstGeom prst="ellipse">
            <a:avLst/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0294" y="1696212"/>
            <a:ext cx="82296" cy="82296"/>
          </a:xfrm>
          <a:prstGeom prst="ellipse">
            <a:avLst/>
          </a:prstGeom>
          <a:solidFill>
            <a:srgbClr val="FBBF24"/>
          </a:solidFill>
          <a:ln w="6350">
            <a:solidFill>
              <a:srgbClr val="FBBF2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610198" y="1696212"/>
            <a:ext cx="82296" cy="82296"/>
          </a:xfrm>
          <a:prstGeom prst="ellipse">
            <a:avLst/>
          </a:prstGeom>
          <a:solidFill>
            <a:srgbClr val="34D399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79031" y="1649578"/>
            <a:ext cx="2448306" cy="17556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76200" tIns="0" rIns="76200" bIns="0" rtlCol="0" anchor="ctr"/>
          <a:lstStyle/>
          <a:p>
            <a:pPr algn="l" indent="0" marL="0">
              <a:buNone/>
            </a:pPr>
            <a:r>
              <a:rPr lang="zh-CN" altLang="en-US" sz="8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localhost:8080/home</a:t>
            </a:r>
            <a:endParaRPr lang="zh-CN" sz="800" dirty="0"/>
          </a:p>
        </p:txBody>
      </p:sp>
      <p:pic>
        <p:nvPicPr>
          <p:cNvPr id="17" name="Image 1" descr="C:\Users\Administrator\AppData\Local\Temp\claude\D--BISHE-BISHE-Software-manager-vue3\99644240-cb63-4863-810a-499e789ad21e\scratchpad\ppt\shots\admin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951" y="1874520"/>
            <a:ext cx="5367528" cy="301923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202375" y="5094922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系统首页</a:t>
            </a:r>
            <a:endParaRPr lang="zh-CN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202375" y="5424107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教务通知与考试安排预览（考试倒计时：明天 / 还有 N 天 / 已结束），下方为考勤占比与成绩分布图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数据大屏：教务数据一屏总览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pPr indent="0" marL="0">
              <a:buNone/>
            </a:pPr>
            <a:r>
              <a:rPr lang="zh-CN" altLang="en-US" sz="12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系统展示</a:t>
            </a:r>
            <a:endParaRPr lang="zh-CN" sz="1200" dirty="0"/>
          </a:p>
        </p:txBody>
      </p:sp>
      <p:pic>
        <p:nvPicPr>
          <p:cNvPr id="4" name="Image 0" descr="C:\Users\Administrator\AppData\Local\Temp\claude\D--BISHE-BISHE-Software-manager-vue3\99644240-cb63-4863-810a-499e789ad21e\scratchpad\ppt\shots\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8138160" cy="45774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8138160" cy="4577486"/>
          </a:xfrm>
          <a:prstGeom prst="rect">
            <a:avLst/>
          </a:prstGeom>
          <a:ln w="9525">
            <a:solidFill>
              <a:srgbClr val="4C4F9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006840" y="1627632"/>
            <a:ext cx="420624" cy="420624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7" name="Image 1" descr="C:\Users\Administrator\AppData\Local\Temp\claude\D--BISHE-BISHE-Software-manager-vue3\99644240-cb63-4863-810a-499e789ad21e\scratchpad\ppt\icons\PieChart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3584" y="1724376"/>
            <a:ext cx="227137" cy="22713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555480" y="1645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张统计图</a:t>
            </a:r>
            <a:endParaRPr lang="zh-CN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9555480" y="204825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成绩分布、考勤占比、学院人数、选课热度、职称结构、登录趋势</a:t>
            </a:r>
            <a:endParaRPr lang="zh-CN" sz="1150" dirty="0"/>
          </a:p>
        </p:txBody>
      </p:sp>
      <p:sp>
        <p:nvSpPr>
          <p:cNvPr id="10" name="Shape 6"/>
          <p:cNvSpPr/>
          <p:nvPr/>
        </p:nvSpPr>
        <p:spPr>
          <a:xfrm>
            <a:off x="9006840" y="2770632"/>
            <a:ext cx="420624" cy="420624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1" name="Image 2" descr="C:\Users\Administrator\AppData\Local\Temp\claude\D--BISHE-BISHE-Software-manager-vue3\99644240-cb63-4863-810a-499e789ad21e\scratchpad\ppt\icons\Odomete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3584" y="2867376"/>
            <a:ext cx="227137" cy="22713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55480" y="2788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一次请求</a:t>
            </a:r>
            <a:endParaRPr lang="zh-CN" sz="1450" dirty="0"/>
          </a:p>
        </p:txBody>
      </p:sp>
      <p:sp>
        <p:nvSpPr>
          <p:cNvPr id="13" name="Text 8"/>
          <p:cNvSpPr txBox="1"/>
          <p:nvPr/>
        </p:nvSpPr>
        <p:spPr>
          <a:xfrm>
            <a:off x="9555480" y="319125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条统计查询合并为 1 个接口，结果缓存 30 秒</a:t>
            </a:r>
            <a:endParaRPr lang="zh-CN" sz="1150" dirty="0"/>
          </a:p>
        </p:txBody>
      </p:sp>
      <p:sp>
        <p:nvSpPr>
          <p:cNvPr id="14" name="Shape 9"/>
          <p:cNvSpPr/>
          <p:nvPr/>
        </p:nvSpPr>
        <p:spPr>
          <a:xfrm>
            <a:off x="9006840" y="3913632"/>
            <a:ext cx="420624" cy="420624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5" name="Image 3" descr="C:\Users\Administrator\AppData\Local\Temp\claude\D--BISHE-BISHE-Software-manager-vue3\99644240-cb63-4863-810a-499e789ad21e\scratchpad\ppt\icons\Monitor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3584" y="4010376"/>
            <a:ext cx="227137" cy="22713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555480" y="3931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等比缩放</a:t>
            </a:r>
            <a:endParaRPr lang="zh-CN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9555480" y="433425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1920×1080 设计稿等比缩放，适配大屏投放</a:t>
            </a:r>
            <a:endParaRPr lang="zh-CN" sz="1150" dirty="0"/>
          </a:p>
        </p:txBody>
      </p:sp>
      <p:sp>
        <p:nvSpPr>
          <p:cNvPr id="18" name="Shape 12"/>
          <p:cNvSpPr/>
          <p:nvPr/>
        </p:nvSpPr>
        <p:spPr>
          <a:xfrm>
            <a:off x="9006840" y="5056632"/>
            <a:ext cx="420624" cy="420624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9" name="Image 4" descr="C:\Users\Administrator\AppData\Local\Temp\claude\D--BISHE-BISHE-Software-manager-vue3\99644240-cb63-4863-810a-499e789ad21e\scratchpad\ppt\icons\Bell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3584" y="5153376"/>
            <a:ext cx="227137" cy="22713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555480" y="5074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动态与待办</a:t>
            </a:r>
            <a:endParaRPr lang="zh-CN" sz="1450" dirty="0"/>
          </a:p>
        </p:txBody>
      </p:sp>
      <p:sp>
        <p:nvSpPr>
          <p:cNvPr id="21" name="Text 14"/>
          <p:cNvSpPr txBox="1"/>
          <p:nvPr/>
        </p:nvSpPr>
        <p:spPr>
          <a:xfrm>
            <a:off x="9555480" y="547725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底部展示最新教务通知、待审核请假与未批改作业数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D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管理端：成绩管理与考试倒计时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系统展示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172200" cy="3895597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6D9E4"/>
            </a:solidFill>
            <a:prstDash val="solid"/>
          </a:ln>
          <a:effectLst>
            <a:outerShdw sx="100000" sy="100000" kx="0" ky="0" algn="bl" rotWithShape="0" blurRad="152400" dist="38100" dir="5400000">
              <a:srgbClr val="1E1B4B">
                <a:alpha val="14000"/>
              </a:srgbClr>
            </a:outerShdw>
          </a:effectLst>
        </p:spPr>
      </p:sp>
      <p:pic>
        <p:nvPicPr>
          <p:cNvPr id="5" name="Image 0" descr="C:\Users\Administrator\AppData\Local\Temp\claude\D--BISHE-BISHE-Software-manager-vue3\99644240-cb63-4863-810a-499e789ad21e\scratchpad\ppt\shots\n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636776"/>
            <a:ext cx="6099048" cy="382244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23760" y="1600200"/>
            <a:ext cx="4206240" cy="3849773"/>
          </a:xfrm>
          <a:prstGeom prst="roundRect">
            <a:avLst>
              <a:gd name="adj" fmla="val 1425"/>
            </a:avLst>
          </a:prstGeom>
          <a:solidFill>
            <a:srgbClr val="FFFFFF"/>
          </a:solidFill>
          <a:ln w="9525">
            <a:solidFill>
              <a:srgbClr val="D6D9E4"/>
            </a:solidFill>
            <a:prstDash val="solid"/>
          </a:ln>
          <a:effectLst>
            <a:outerShdw sx="100000" sy="100000" kx="0" ky="0" algn="bl" rotWithShape="0" blurRad="152400" dist="38100" dir="5400000">
              <a:srgbClr val="1E1B4B">
                <a:alpha val="14000"/>
              </a:srgbClr>
            </a:outerShdw>
          </a:effectLst>
        </p:spPr>
      </p:sp>
      <p:pic>
        <p:nvPicPr>
          <p:cNvPr id="7" name="Image 1" descr="C:\Users\Administrator\AppData\Local\Temp\claude\D--BISHE-BISHE-Software-manager-vue3\99644240-cb63-4863-810a-499e789ad21e\scratchpad\ppt\shots\n_exam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1636776"/>
            <a:ext cx="4133088" cy="37766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632957"/>
            <a:ext cx="6172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成绩管理（教师端）</a:t>
            </a:r>
            <a:endParaRPr lang="zh-CN" sz="145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录入平时分与期末分，系统按 30% / 70% 自动计算总成绩，可导出 Excel</a:t>
            </a:r>
            <a:endParaRPr lang="zh-CN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7223760" y="5632957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考试倒计时</a:t>
            </a:r>
            <a:endParaRPr lang="zh-CN" sz="145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考试时间精确到分钟；3 天内红色、一周内橙色提醒</a:t>
            </a:r>
            <a:endParaRPr lang="zh-CN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微信小程序端：随时随地办理教务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系统展示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011680" cy="4204458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22000"/>
              </a:srgbClr>
            </a:outerShdw>
          </a:effectLst>
        </p:spPr>
      </p:sp>
      <p:pic>
        <p:nvPicPr>
          <p:cNvPr id="5" name="Image 0" descr="C:\Users\Administrator\AppData\Local\Temp\claude\D--BISHE-BISHE-Software-manager-vue3\99644240-cb63-4863-810a-499e789ad21e\scratchpad\ppt\shots\m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36776"/>
            <a:ext cx="1883664" cy="40764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85037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登录页</a:t>
            </a:r>
            <a:endParaRPr lang="zh-CN" sz="1200" dirty="0"/>
          </a:p>
        </p:txBody>
      </p:sp>
      <p:sp>
        <p:nvSpPr>
          <p:cNvPr id="7" name="Shape 4"/>
          <p:cNvSpPr/>
          <p:nvPr/>
        </p:nvSpPr>
        <p:spPr>
          <a:xfrm>
            <a:off x="2819095" y="1572768"/>
            <a:ext cx="2011680" cy="4204458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22000"/>
              </a:srgbClr>
            </a:outerShdw>
          </a:effectLst>
        </p:spPr>
      </p:sp>
      <p:pic>
        <p:nvPicPr>
          <p:cNvPr id="8" name="Image 1" descr="C:\Users\Administrator\AppData\Local\Temp\claude\D--BISHE-BISHE-Software-manager-vue3\99644240-cb63-4863-810a-499e789ad21e\scratchpad\ppt\shots\m_student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103" y="1636776"/>
            <a:ext cx="1883664" cy="40764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27655" y="585037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学生首页</a:t>
            </a:r>
            <a:endParaRPr lang="zh-CN" sz="1200" dirty="0"/>
          </a:p>
        </p:txBody>
      </p:sp>
      <p:sp>
        <p:nvSpPr>
          <p:cNvPr id="10" name="Shape 6"/>
          <p:cNvSpPr/>
          <p:nvPr/>
        </p:nvSpPr>
        <p:spPr>
          <a:xfrm>
            <a:off x="5089550" y="1572768"/>
            <a:ext cx="2011680" cy="4204458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22000"/>
              </a:srgbClr>
            </a:outerShdw>
          </a:effectLst>
        </p:spPr>
      </p:sp>
      <p:pic>
        <p:nvPicPr>
          <p:cNvPr id="11" name="Image 2" descr="C:\Users\Administrator\AppData\Local\Temp\claude\D--BISHE-BISHE-Software-manager-vue3\99644240-cb63-4863-810a-499e789ad21e\scratchpad\ppt\shots\m_student_s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558" y="1636776"/>
            <a:ext cx="1883664" cy="40764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998110" y="585037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我的成绩 · 绩点汇总</a:t>
            </a:r>
            <a:endParaRPr lang="zh-CN" sz="1200" dirty="0"/>
          </a:p>
        </p:txBody>
      </p:sp>
      <p:sp>
        <p:nvSpPr>
          <p:cNvPr id="13" name="Shape 8"/>
          <p:cNvSpPr/>
          <p:nvPr/>
        </p:nvSpPr>
        <p:spPr>
          <a:xfrm>
            <a:off x="7360006" y="1572768"/>
            <a:ext cx="2011680" cy="4204458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22000"/>
              </a:srgbClr>
            </a:outerShdw>
          </a:effectLst>
        </p:spPr>
      </p:sp>
      <p:pic>
        <p:nvPicPr>
          <p:cNvPr id="14" name="Image 3" descr="C:\Users\Administrator\AppData\Local\Temp\claude\D--BISHE-BISHE-Software-manager-vue3\99644240-cb63-4863-810a-499e789ad21e\scratchpad\ppt\shots\m_student_exampl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014" y="1636776"/>
            <a:ext cx="1883664" cy="407644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8566" y="585037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考试安排 · 倒计时</a:t>
            </a:r>
            <a:endParaRPr lang="zh-CN" sz="1200" dirty="0"/>
          </a:p>
        </p:txBody>
      </p:sp>
      <p:sp>
        <p:nvSpPr>
          <p:cNvPr id="16" name="Shape 10"/>
          <p:cNvSpPr/>
          <p:nvPr/>
        </p:nvSpPr>
        <p:spPr>
          <a:xfrm>
            <a:off x="9630461" y="1572768"/>
            <a:ext cx="2011680" cy="4204458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  <a:effectLst>
            <a:outerShdw sx="100000" sy="100000" kx="0" ky="0" algn="bl" rotWithShape="0" blurRad="177800" dist="50800" dir="5400000">
              <a:srgbClr val="1E1B4B">
                <a:alpha val="22000"/>
              </a:srgbClr>
            </a:outerShdw>
          </a:effectLst>
        </p:spPr>
      </p:sp>
      <p:pic>
        <p:nvPicPr>
          <p:cNvPr id="17" name="Image 4" descr="C:\Users\Administrator\AppData\Local\Temp\claude\D--BISHE-BISHE-Software-manager-vue3\99644240-cb63-4863-810a-499e789ad21e\scratchpad\ppt\shots\m_student_m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4469" y="1636776"/>
            <a:ext cx="1883664" cy="407644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539021" y="585037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 · 主题与语言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单元测试：304 个用例全部通过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系统测试</a:t>
            </a:r>
            <a:endParaRPr lang="zh-CN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各端单元测试用例数</a:t>
            </a:r>
            <a:endParaRPr lang="zh-CN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65960"/>
          <a:ext cx="5577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5394960" cy="777240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349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4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304 个，全部通过</a:t>
            </a:r>
            <a:endParaRPr lang="zh-CN" sz="1400" dirty="0"/>
          </a:p>
          <a:p>
            <a:pPr indent="0" marL="0">
              <a:lnSpc>
                <a:spcPct val="110000"/>
              </a:lnSpc>
              <a:buNone/>
            </a:pPr>
            <a:r>
              <a:rPr lang="zh-CN" alt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2026-10-03 实测；后端测试不启动 Spring 容器、不连数据库</a:t>
            </a:r>
            <a:endParaRPr lang="zh-CN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157276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测试重点：算法与记账逻辑</a:t>
            </a:r>
            <a:endParaRPr lang="zh-CN" sz="1500" dirty="0"/>
          </a:p>
        </p:txBody>
      </p:sp>
      <p:sp>
        <p:nvSpPr>
          <p:cNvPr id="9" name="Text 6"/>
          <p:cNvSpPr/>
          <p:nvPr/>
        </p:nvSpPr>
        <p:spPr>
          <a:xfrm>
            <a:off x="6400800" y="205740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学业预警 · 11</a:t>
            </a:r>
            <a:endParaRPr lang="zh-CN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20574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三项指标边界、迟到折半计算、四级阈值</a:t>
            </a:r>
            <a:endParaRPr lang="zh-CN" sz="1250" dirty="0"/>
          </a:p>
        </p:txBody>
      </p:sp>
      <p:sp>
        <p:nvSpPr>
          <p:cNvPr id="11" name="Text 8"/>
          <p:cNvSpPr/>
          <p:nvPr/>
        </p:nvSpPr>
        <p:spPr>
          <a:xfrm>
            <a:off x="6400800" y="274320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课程推荐 · 9</a:t>
            </a:r>
            <a:endParaRPr lang="zh-CN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7432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相似度算式、冷启动降级、同分排序与截断</a:t>
            </a:r>
            <a:endParaRPr lang="zh-CN" sz="1250" dirty="0"/>
          </a:p>
        </p:txBody>
      </p:sp>
      <p:sp>
        <p:nvSpPr>
          <p:cNvPr id="13" name="Text 10"/>
          <p:cNvSpPr/>
          <p:nvPr/>
        </p:nvSpPr>
        <p:spPr>
          <a:xfrm>
            <a:off x="6400800" y="342900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选课校验 · 10</a:t>
            </a:r>
            <a:endParaRPr lang="zh-CN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34290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满员边界、时间冲突、已结课不占用时段</a:t>
            </a:r>
            <a:endParaRPr lang="zh-CN" sz="1250" dirty="0"/>
          </a:p>
        </p:txBody>
      </p:sp>
      <p:sp>
        <p:nvSpPr>
          <p:cNvPr id="15" name="Text 12"/>
          <p:cNvSpPr/>
          <p:nvPr/>
        </p:nvSpPr>
        <p:spPr>
          <a:xfrm>
            <a:off x="6400800" y="411480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成绩学分 · 17</a:t>
            </a:r>
            <a:endParaRPr lang="zh-CN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41148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加权总分、及格才加学分、改分状态迁移</a:t>
            </a:r>
            <a:endParaRPr lang="zh-CN" sz="1250" dirty="0"/>
          </a:p>
        </p:txBody>
      </p:sp>
      <p:sp>
        <p:nvSpPr>
          <p:cNvPr id="17" name="Text 14"/>
          <p:cNvSpPr/>
          <p:nvPr/>
        </p:nvSpPr>
        <p:spPr>
          <a:xfrm>
            <a:off x="6400800" y="480060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前端 · 45</a:t>
            </a:r>
            <a:endParaRPr lang="zh-CN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8006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Pinia 状态、通用 CRUD、主题色、考试倒计时</a:t>
            </a:r>
            <a:endParaRPr lang="zh-CN" sz="1250" dirty="0"/>
          </a:p>
        </p:txBody>
      </p:sp>
      <p:sp>
        <p:nvSpPr>
          <p:cNvPr id="19" name="Text 16"/>
          <p:cNvSpPr/>
          <p:nvPr/>
        </p:nvSpPr>
        <p:spPr>
          <a:xfrm>
            <a:off x="6400800" y="548640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 w="9525">
            <a:solidFill>
              <a:srgbClr val="EEF2FF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zh-CN" altLang="en-US" sz="125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小程序 · 202</a:t>
            </a:r>
            <a:endParaRPr lang="zh-CN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54864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请求层、WebSocket 重连、消息中心、绩点换算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查询性能验证与优化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系统测试</a:t>
            </a:r>
            <a:endParaRPr lang="zh-CN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EXPLAIN 执行计划实测</a:t>
            </a:r>
            <a:endParaRPr lang="zh-CN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630936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960120"/>
                <a:gridCol w="2103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查询条件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访问类型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命中索引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score WHERE teacher_id = ?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ref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idx_score_teacher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score WHERE course_id = ? AND student_id = ?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ref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idx_score_course_student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student WHERE username = ?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uk_student_username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apply WHERE status = ?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241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无索引（对照组）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00600"/>
            <a:ext cx="630936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800600"/>
            <a:ext cx="5897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3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lnSpc>
                <a:spcPct val="125000"/>
              </a:lnSpc>
              <a:buNone/>
            </a:pPr>
            <a:r>
              <a:rPr lang="zh-CN" altLang="en-US" sz="13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同样的数据量下，命中索引的查询走 ref / const，没有索引的对照组退化为 ALL 全表扫描；数据量增长后，这个差距会成数量级放大。</a:t>
            </a:r>
            <a:endParaRPr lang="zh-CN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性能优化措施</a:t>
            </a:r>
            <a:endParaRPr lang="zh-CN" sz="1500" dirty="0"/>
          </a:p>
        </p:txBody>
      </p:sp>
      <p:sp>
        <p:nvSpPr>
          <p:cNvPr id="9" name="Shape 6"/>
          <p:cNvSpPr/>
          <p:nvPr/>
        </p:nvSpPr>
        <p:spPr>
          <a:xfrm>
            <a:off x="7269480" y="2103120"/>
            <a:ext cx="502920" cy="50292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0" name="Image 0" descr="C:\Users\Administrator\AppData\Local\Temp\claude\D--BISHE-BISHE-Software-manager-vue3\99644240-cb63-4863-810a-499e789ad21e\scratchpad\ppt\icons\User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5152" y="2218792"/>
            <a:ext cx="271577" cy="27157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55280" y="207568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请求级用户缓存</a:t>
            </a:r>
            <a:endParaRPr lang="zh-CN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240487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单个写请求查询账号由 3~4 次降为 1 次</a:t>
            </a:r>
            <a:endParaRPr lang="zh-CN" sz="1250" dirty="0"/>
          </a:p>
        </p:txBody>
      </p:sp>
      <p:sp>
        <p:nvSpPr>
          <p:cNvPr id="13" name="Shape 9"/>
          <p:cNvSpPr/>
          <p:nvPr/>
        </p:nvSpPr>
        <p:spPr>
          <a:xfrm>
            <a:off x="7269480" y="3127248"/>
            <a:ext cx="502920" cy="50292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4" name="Image 1" descr="C:\Users\Administrator\AppData\Local\Temp\claude\D--BISHE-BISHE-Software-manager-vue3\99644240-cb63-4863-810a-499e789ad21e\scratchpad\ppt\icons\Histogram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152" y="3242920"/>
            <a:ext cx="271577" cy="27157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955280" y="30998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统计下推数据库</a:t>
            </a:r>
            <a:endParaRPr lang="zh-CN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7955280" y="34290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成绩分段、考勤占比用 GROUP BY 在数据库聚合</a:t>
            </a:r>
            <a:endParaRPr lang="zh-CN" sz="1250" dirty="0"/>
          </a:p>
        </p:txBody>
      </p:sp>
      <p:sp>
        <p:nvSpPr>
          <p:cNvPr id="17" name="Shape 12"/>
          <p:cNvSpPr/>
          <p:nvPr/>
        </p:nvSpPr>
        <p:spPr>
          <a:xfrm>
            <a:off x="7269480" y="4151376"/>
            <a:ext cx="502920" cy="50292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18" name="Image 2" descr="C:\Users\Administrator\AppData\Local\Temp\claude\D--BISHE-BISHE-Software-manager-vue3\99644240-cb63-4863-810a-499e789ad21e\scratchpad\ppt\icons\Time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5152" y="4267048"/>
            <a:ext cx="271577" cy="27157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955280" y="412394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结果缓存</a:t>
            </a:r>
            <a:endParaRPr lang="zh-CN" sz="1450" dirty="0"/>
          </a:p>
        </p:txBody>
      </p:sp>
      <p:sp>
        <p:nvSpPr>
          <p:cNvPr id="20" name="Text 14"/>
          <p:cNvSpPr txBox="1"/>
          <p:nvPr/>
        </p:nvSpPr>
        <p:spPr>
          <a:xfrm>
            <a:off x="7955280" y="44531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数据大屏 30 秒、课程推荐 60 秒进程内缓存</a:t>
            </a:r>
            <a:endParaRPr lang="zh-CN" sz="1250" dirty="0"/>
          </a:p>
        </p:txBody>
      </p:sp>
      <p:sp>
        <p:nvSpPr>
          <p:cNvPr id="21" name="Shape 15"/>
          <p:cNvSpPr/>
          <p:nvPr/>
        </p:nvSpPr>
        <p:spPr>
          <a:xfrm>
            <a:off x="7269480" y="5175504"/>
            <a:ext cx="502920" cy="502920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pic>
        <p:nvPicPr>
          <p:cNvPr id="22" name="Image 3" descr="C:\Users\Administrator\AppData\Local\Temp\claude\D--BISHE-BISHE-Software-manager-vue3\99644240-cb63-4863-810a-499e789ad21e\scratchpad\ppt\icons\Box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152" y="5291176"/>
            <a:ext cx="271577" cy="27157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955280" y="5148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前端按需加载</a:t>
            </a:r>
            <a:endParaRPr lang="zh-CN" sz="1450" dirty="0"/>
          </a:p>
        </p:txBody>
      </p:sp>
      <p:sp>
        <p:nvSpPr>
          <p:cNvPr id="24" name="Text 17"/>
          <p:cNvSpPr txBox="1"/>
          <p:nvPr/>
        </p:nvSpPr>
        <p:spPr>
          <a:xfrm>
            <a:off x="7955280" y="547725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Element Plus 组件与样式按需引入，首屏样式 355 KB → 216 KB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pPr indent="0" marL="0">
              <a:buNone/>
            </a:pPr>
            <a:r>
              <a:rPr lang="zh-CN" alt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总结与展望</a:t>
            </a:r>
            <a:endParaRPr 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EEF2FF"/>
          </a:solidFill>
          <a:ln w="635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工作总结</a:t>
            </a:r>
            <a:endParaRPr lang="zh-CN" sz="1800" dirty="0"/>
          </a:p>
        </p:txBody>
      </p:sp>
      <p:pic>
        <p:nvPicPr>
          <p:cNvPr id="6" name="Image 0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871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245059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 Web 管理端、微信小程序端与 Spring Boot 后端，</a:t>
            </a:r>
            <a:endParaRPr lang="zh-CN" sz="1400" dirty="0"/>
          </a:p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三类角色业务闭环</a:t>
            </a:r>
            <a:endParaRPr lang="zh-CN" sz="1400" dirty="0"/>
          </a:p>
        </p:txBody>
      </p:sp>
      <p:pic>
        <p:nvPicPr>
          <p:cNvPr id="8" name="Image 1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3832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61872" y="334670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 JWT + BCrypt + RBAC 安全体系，</a:t>
            </a:r>
            <a:endParaRPr lang="zh-CN" sz="1400" dirty="0"/>
          </a:p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数据按角色隔离，关键操作全程留痕</a:t>
            </a:r>
            <a:endParaRPr lang="zh-CN" sz="1400" dirty="0"/>
          </a:p>
        </p:txBody>
      </p:sp>
      <p:pic>
        <p:nvPicPr>
          <p:cNvPr id="10" name="Image 2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79392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61872" y="4242816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实现协同过滤课程推荐与学业预警模型，</a:t>
            </a:r>
            <a:endParaRPr lang="zh-CN" sz="1400" dirty="0"/>
          </a:p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配套数据大屏与实时通知</a:t>
            </a:r>
            <a:endParaRPr lang="zh-CN" sz="1400" dirty="0"/>
          </a:p>
        </p:txBody>
      </p:sp>
      <p:pic>
        <p:nvPicPr>
          <p:cNvPr id="12" name="Image 3" descr="C:\Users\Administrator\AppData\Local\Temp\claude\D--BISHE-BISHE-Software-manager-vue3\99644240-cb63-4863-810a-499e789ad21e\scratchpad\ppt\icons\CircleCheck_4F46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175504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61872" y="513892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304 个单元测试覆盖核心逻辑，</a:t>
            </a:r>
            <a:endParaRPr lang="zh-CN" sz="1400" dirty="0"/>
          </a:p>
          <a:p>
            <a:pPr indent="0" marL="0">
              <a:lnSpc>
                <a:spcPct val="125000"/>
              </a:lnSpc>
              <a:buNone/>
            </a:pPr>
            <a:r>
              <a:rPr lang="zh-CN" altLang="en-US" sz="1400" dirty="0">
                <a:solidFill>
                  <a:srgbClr val="3741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Compose 一键部署</a:t>
            </a:r>
            <a:endParaRPr lang="zh-CN" sz="1400" dirty="0"/>
          </a:p>
        </p:txBody>
      </p:sp>
      <p:sp>
        <p:nvSpPr>
          <p:cNvPr id="14" name="Shape 8"/>
          <p:cNvSpPr/>
          <p:nvPr/>
        </p:nvSpPr>
        <p:spPr>
          <a:xfrm>
            <a:off x="6217920" y="1600200"/>
            <a:ext cx="5425135" cy="4526280"/>
          </a:xfrm>
          <a:prstGeom prst="roundRect">
            <a:avLst>
              <a:gd name="adj" fmla="val 2424"/>
            </a:avLst>
          </a:prstGeom>
          <a:solidFill>
            <a:srgbClr val="1E1B4B"/>
          </a:solidFill>
          <a:ln w="6350">
            <a:solidFill>
              <a:srgbClr val="1E1B4B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649224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不足与展望</a:t>
            </a:r>
            <a:endParaRPr lang="zh-CN" sz="1800" dirty="0"/>
          </a:p>
        </p:txBody>
      </p:sp>
      <p:pic>
        <p:nvPicPr>
          <p:cNvPr id="16" name="Image 4" descr="C:\Users\Administrator\AppData\Local\Temp\claude\D--BISHE-BISHE-Software-manager-vue3\99644240-cb63-4863-810a-499e789ad21e\scratchpad\ppt\icons\Promotion_A5B4F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487168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903720" y="24505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支持集群部署</a:t>
            </a:r>
            <a:endParaRPr lang="zh-CN" sz="1450" dirty="0"/>
          </a:p>
        </p:txBody>
      </p:sp>
      <p:sp>
        <p:nvSpPr>
          <p:cNvPr id="18" name="Text 11"/>
          <p:cNvSpPr txBox="1"/>
          <p:nvPr/>
        </p:nvSpPr>
        <p:spPr>
          <a:xfrm>
            <a:off x="6903720" y="2779776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登录失败计数、防重复提交与缓存目前在进程内，可引入 Redis 支持多实例</a:t>
            </a:r>
            <a:endParaRPr lang="zh-CN" sz="1250" dirty="0"/>
          </a:p>
        </p:txBody>
      </p:sp>
      <p:pic>
        <p:nvPicPr>
          <p:cNvPr id="19" name="Image 5" descr="C:\Users\Administrator\AppData\Local\Temp\claude\D--BISHE-BISHE-Software-manager-vue3\99644240-cb63-4863-810a-499e789ad21e\scratchpad\ppt\icons\Promotion_A5B4F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338328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903720" y="334670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优化推荐算法</a:t>
            </a:r>
            <a:endParaRPr lang="zh-CN" sz="1450" dirty="0"/>
          </a:p>
        </p:txBody>
      </p:sp>
      <p:sp>
        <p:nvSpPr>
          <p:cNvPr id="21" name="Text 13"/>
          <p:cNvSpPr txBox="1"/>
          <p:nvPr/>
        </p:nvSpPr>
        <p:spPr>
          <a:xfrm>
            <a:off x="6903720" y="367588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融合成绩、兴趣标签等特征，改善冷启动与推荐精度</a:t>
            </a:r>
            <a:endParaRPr lang="zh-CN" sz="1250" dirty="0"/>
          </a:p>
        </p:txBody>
      </p:sp>
      <p:pic>
        <p:nvPicPr>
          <p:cNvPr id="22" name="Image 6" descr="C:\Users\Administrator\AppData\Local\Temp\claude\D--BISHE-BISHE-Software-manager-vue3\99644240-cb63-4863-810a-499e789ad21e\scratchpad\ppt\icons\Promotion_A5B4F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4279392"/>
            <a:ext cx="256032" cy="25603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903720" y="4242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小程序正式上线</a:t>
            </a:r>
            <a:endParaRPr lang="zh-CN" sz="1450" dirty="0"/>
          </a:p>
        </p:txBody>
      </p:sp>
      <p:sp>
        <p:nvSpPr>
          <p:cNvPr id="24" name="Text 15"/>
          <p:cNvSpPr txBox="1"/>
          <p:nvPr/>
        </p:nvSpPr>
        <p:spPr>
          <a:xfrm>
            <a:off x="6903720" y="45720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使用备案的 HTTPS 域名部署后端，提交审核后发布</a:t>
            </a:r>
            <a:endParaRPr lang="zh-CN" sz="1250" dirty="0"/>
          </a:p>
        </p:txBody>
      </p:sp>
      <p:pic>
        <p:nvPicPr>
          <p:cNvPr id="25" name="Image 7" descr="C:\Users\Administrator\AppData\Local\Temp\claude\D--BISHE-BISHE-Software-manager-vue3\99644240-cb63-4863-810a-499e789ad21e\scratchpad\ppt\icons\Promotion_A5B4F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5175504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6903720" y="513892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智能排课</a:t>
            </a:r>
            <a:endParaRPr lang="zh-CN" sz="1450" dirty="0"/>
          </a:p>
        </p:txBody>
      </p:sp>
      <p:sp>
        <p:nvSpPr>
          <p:cNvPr id="27" name="Text 17"/>
          <p:cNvSpPr txBox="1"/>
          <p:nvPr/>
        </p:nvSpPr>
        <p:spPr>
          <a:xfrm>
            <a:off x="6903720" y="546811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C7D2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从教室冲突校验扩展到全校课表的自动编排优化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AppData\Local\Temp\claude\D--BISHE-BISHE-Software-manager-vue3\99644240-cb63-4863-810a-499e789ad21e\scratchpad\ppt\icons\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160020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2743200"/>
            <a:ext cx="10360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感谢聆听，恳请各位老师批评指正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7033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spc="800" kern="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zh-CN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75488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</a:t>
            </a:r>
            <a:pPr algn="ctr" indent="0" marL="0">
              <a:buNone/>
            </a:pPr>
            <a:r>
              <a:rPr lang="zh-CN" alt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【姓名】</a:t>
            </a:r>
            <a:pPr algn="ctr" indent="0" marL="0">
              <a:buNone/>
            </a:pPr>
            <a:r>
              <a:rPr lang="zh-CN" altLang="en-US" sz="1500" dirty="0">
                <a:solidFill>
                  <a:srgbClr val="A5B4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　指导教师：</a:t>
            </a:r>
            <a:pPr algn="ctr" indent="0" marL="0">
              <a:buNone/>
            </a:pPr>
            <a:r>
              <a:rPr lang="zh-CN" alt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【指导教师】</a:t>
            </a:r>
            <a:endParaRPr lang="zh-CN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教务管理系统答辩">
  <a:themeElements>
    <a:clrScheme name="教务管理系统答辩">
      <a:dk1>
        <a:srgbClr val="11182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6366F1"/>
      </a:accent3>
      <a:accent4>
        <a:srgbClr val="A5B4FC"/>
      </a:accent4>
      <a:accent5>
        <a:srgbClr val="0D9488"/>
      </a:accent5>
      <a:accent6>
        <a:srgbClr val="C2410C"/>
      </a:accent6>
      <a:hlink>
        <a:srgbClr val="4F46E5"/>
      </a:hlink>
      <a:folHlink>
        <a:srgbClr val="6366F1"/>
      </a:folHlink>
    </a:clrScheme>
    <a:fontScheme name="教务管理系统答辩">
      <a:majorFont>
        <a:latin typeface="Microsoft YaHei"/>
        <a:ea typeface="微软雅黑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微软雅黑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Spring Boot + Vue 的教务管理系统设计与实现</dc:title>
  <dc:subject>本科毕业设计答辩</dc:subject>
  <dc:creator/>
  <cp:lastModifiedBy/>
  <cp:revision>1</cp:revision>
  <dcterms:created xsi:type="dcterms:W3CDTF">2026-10-03T17:31:12Z</dcterms:created>
  <dcterms:modified xsi:type="dcterms:W3CDTF">2026-10-03T17:31:12Z</dcterms:modified>
</cp:coreProperties>
</file>