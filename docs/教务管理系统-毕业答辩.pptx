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目录" id="{f717228c-168c-dbd8-b277-5be3a75afed1}">
          <p14:sldIdLst>
            <p14:sldId id="256"/>
            <p14:sldId id="257"/>
          </p14:sldIdLst>
        </p14:section>
        <p14:section name="研究背景与意义" id="{7058f6ba-a916-ee22-b230-a9d3256015e7}">
          <p14:sldIdLst>
            <p14:sldId id="258"/>
            <p14:sldId id="259"/>
          </p14:sldIdLst>
        </p14:section>
        <p14:section name="需求分析" id="{c9f6568a-c41f-f88c-fa3c-e63b39c779f5}">
          <p14:sldIdLst>
            <p14:sldId id="260"/>
            <p14:sldId id="261"/>
          </p14:sldIdLst>
        </p14:section>
        <p14:section name="系统设计" id="{4a37825a-bb45-3703-9283-9be10ae70765}">
          <p14:sldIdLst>
            <p14:sldId id="262"/>
            <p14:sldId id="263"/>
            <p14:sldId id="264"/>
            <p14:sldId id="265"/>
          </p14:sldIdLst>
        </p14:section>
        <p14:section name="关键技术与实现" id="{ecfc004b-718a-85b1-5dbf-32e19dba4d85}">
          <p14:sldIdLst>
            <p14:sldId id="266"/>
            <p14:sldId id="267"/>
            <p14:sldId id="268"/>
            <p14:sldId id="269"/>
            <p14:sldId id="270"/>
          </p14:sldIdLst>
        </p14:section>
        <p14:section name="系统展示" id="{44aaa6b1-c3ed-9828-da90-8d191cfd5a66}">
          <p14:sldIdLst>
            <p14:sldId id="271"/>
            <p14:sldId id="272"/>
            <p14:sldId id="273"/>
            <p14:sldId id="274"/>
            <p14:sldId id="275"/>
          </p14:sldIdLst>
        </p14:section>
        <p14:section name="系统测试" id="{bf4c0b4b-4320-737c-c273-78eba72f346c}">
          <p14:sldIdLst>
            <p14:sldId id="276"/>
            <p14:sldId id="277"/>
          </p14:sldIdLst>
        </p14:section>
        <p14:section name="总结与展望" id="{f55909a9-5f0f-0883-fc37-6027968e1af4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0F7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7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后端（JUnit 5 + Mockito）</c:v>
                  </c:pt>
                  <c:pt idx="1">
                    <c:v>小程序端（Vitest）</c:v>
                  </c:pt>
                  <c:pt idx="2">
                    <c:v>Web 端（Vitest）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233</c:v>
                </c:pt>
                <c:pt idx="1">
                  <c:v>188</c:v>
                </c:pt>
                <c:pt idx="2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7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各位老师好，我是【姓名】，我的毕业设计题目是《基于 Spring Boot + Vue 的教务管理系统设计与实现》。系统包含 Web 端和微信小程序端两个客户端，共用一个 Spring Boot 后端，并以「课程空间」为中心组织教学功能。下面我从研究背景、需求分析、系统设计、关键技术、系统展示、系统测试和总结展望七个方面进行汇报。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这是本次汇报的提纲，共七个部分。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校教务管理涉及学院、专业、班级、课程、选课、成绩、考勤、请假等大量数据和流程。传统方式存在四个问题：信息分散；流程割裂，一门课的签到、作业、成绩分在不同菜单；只能在电脑上操作；缺少数据分析。本课题的意义在于：用一套后端同时支撑 Web 端和小程序端；以「课程空间」为中心，让一门课的事情在一处完成；并引入学业预警和课程推荐，让数据服务于教学管理。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本课题完成的工作可以用这几个数字概括：3 类用户角色、2 个客户端、27 张数据表、22 个小程序页面、502 个单元测试。具体工作包括四个方面：一是以课程为中心的三端系统实现；二是安全体系和数据一致性；三是课程推荐、学业预警两个算法和成绩册模型；四是实时通知、多语言多主题等体验优化和工程化建设。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有三类角色。管理员在教务后台维护基础数据：开课排课、组织架构与人员、请假审批、考试安排、学期设置和权限日志；教师在课程空间里完成教学：发起签到、布置批改作业、在成绩册里录分发布、查看评价、上传资料和发公告；学生在课程广场选课，在日程里看课表和请假，在课程空间里签到、交作业、看成绩和评价。三类角色的数据严格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功能需求有五个方面。安全性：令牌认证、密码哈希、验证码与登录锁定、接口级鉴权；一致性：有下属数据的组织、有人选的课、排着课的教室等六类数据不能直接删除，选课用行锁防止超卖，换教师、改教室编号时相关记录联动，所有「今天」「现在」都以服务器的北京时间为准；易用性：以课程组织功能，支持中英文、深浅色和主题色；可维护性：通用 CRUD 框架和统一的返回体、错误码，老数据库启动时自动迁移；性能与部署：索引、统计下推、结果缓存和 Docker 一键部署。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系统采用前后端分离的分层架构。表现层是 Web 端和微信小程序端；Web 端经 nginx 反向代理访问后端，小程序直连后端接口。业务层是 Spring Boot 后端，每个请求先经过 JWT 令牌校验和 RBAC 权限切面，再进入 Controller、Service、Mapper；另外有 WebSocket 推送、操作日志切面、定时任务（日志清理、签到收尾）、文件上传、统一的北京时间业务时钟和两个算法模块。数据层是 MySQL、文件存储和进程内缓存。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技术选型上，Web 端使用 Vue 3、TypeScript 和 Element Plus；后端使用 Spring Boot 2.7、MyBatis 和 MySQL，认证用 JWT 加 BCrypt，权限和日志用 Spring AOP 实现；小程序端使用 uni-app 编译为微信小程序，课程空间和教务后台放在分包里按需加载；部署使用 Docker Compose 和 nginx，测试使用 JUnit 5、Mockito 和 Vitest。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设计最大的变化是按「课程空间」组织功能。顶部导航只有首页、课程、日程、消息四个入口，管理员多一个教务后台。每门课都有一个课程空间，包含概览、签到、作业、成绩、评价、资料、成员七个分页：老师在这里发起签到、批改作业、录成绩和发布，学生在这里签到、交作业、看成绩和评价。有人签到或交作业时，后端推送静默事件，打开着的页面会自动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数据库共 27 张表：16 张核心业务表、5 张课程空间表、6 张系统表。核心关系以「课程」为中心：学院、专业、班级、学生构成档案链；教师任教课程；学生通过选课和课程关联。签到场次、作业任务、课程评价、课程资料是改版新增的表，和课程公告一起挂在课程下；成绩册、考勤、作业提交是每名学生的记录。表之间采用逻辑外键，删除前由业务层检查，并为高频查询建立了联合索引和唯一索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安全方面，登录要经过五步：图形验证码；登录保护，连续失败 5 次锁定 10 分钟；按账号识别身份，用户不用选身份；BCrypt 密码比对；签发 JWT，之后每个请求由拦截器校验令牌。权限方面采用 RBAC 模型，做了四层控制：路由层、导航层、按钮层在前端控制可见性，接口层由服务端 AOP 切面逐请求判定，即使绕过前端也无法越权。授权关系存在数据库里，管理员勾选后立即生效。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课程空间里最核心的两个功能是课堂签到和成绩册。签到时老师一键生成 4 位签到码，学生在课程空间输入即可签到，输错 5 次锁定；每有一人签到，后端都会推送一条静默事件，老师端的人数和名单即时刷新；到时或提前结束后，没签到的记缺勤，当天请了假的记请假。成绩册的总评由考勤分、作业分、平时分、期末分四项按权重加权，其中考勤分和作业分根据记录自动折算；成绩先存草稿，发布后学生才看得到，及格的课程才计入学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课程推荐采用基于物品的协同过滤。思路是：两门课被同一批学生选修得越多，它们就越相似。先由选课记录构建学生乘课程的 0/1 矩阵，再按余弦相似度计算课程两两之间的相似度，候选课的得分是它与该生已选课程相似度之和，排除已选课程后取前 N 门。中间是一个计算示例：只选了 A 的同学，C 与 A 的相似度 0.82 高于 B 的 0.67，所以优先推荐 C。没有选课记录的新同学降级为热门推荐。右边是课程广场里的「猜你想选」，每门推荐课都附有理由，比如「与已选《高等数学》相似度 97%」。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学业预警采用多指标加权评分模型：风险指数等于不及格占比乘 40，加平均分差距乘 30，加异常考勤率乘 30，其中缺勤计 1 次、迟到早退计半次，只算已发布的成绩。按指数分为正常、低、中、高四个等级。数据范围按角色隔离，教师只看到自己任课的学生。预警页展示各项指标和处理建议，教师首页的「需要关注的学生」和预警页都可以一键推送提醒，学生实时收到。这部分有 11 个单元测试覆盖各项边界和阈值。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系统用 WebSocket 实现实时通知。成绩发布、作业批改、请假审核、学业预警提醒、课程公告这类带标题的消息，后端先存进消息表、再推送给在线的人，离线的同学之后打开消息中心也能看到，并有未读数；发布全校通知时全员广播。另外还有不落库的静默事件：有人签到、交作业、发公告时，打开着的课程空间会自动刷新。连接建立时校验令牌，两端都有断线重连。主题、语言和主题色保存在账号表里，同一账号在 Web 和小程序上自动一致。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系统展示。左边是学生首页：顶部是学期、教学周和学业概况，右侧是正在上的课；下面是今天的课、我的课程、学业进度、待交作业和近期考试。右边是教师首页：今天的课可以直接进入课堂发起签到，旁边是待批改的作业和需要关注的学生，可以一键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教师在课程空间里的两个页面。左边是课堂签到：签到码大字显示，可以投到屏幕上，学生每签一个，已签人数和下面的名单就实时刷新，老师也可以在名单里逐个修改考勤状态。右边是成绩册：老师先设置四项权重，考勤分和作业分由系统按记录折算，录入平时分和期末分后可以预览总评，确认无误再发布，发布后学生才能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课程广场：顶部的「猜你想选」就是协同过滤的推荐结果，每门课都附推荐理由；下面可以按类型、星期筛选，选课时由后端校验名额、时间冲突和是否已结课。右边是日程的周课表：课程块按课程名配色，今天这一列高亮，正在上的课加描边；切换到月历后，可以直接选日期请假，提交前会列出这几天要缺的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管理员的教务后台。左边是开课向导的第二步「时间与教室」：选定星期和大节后，系统只列出这个时段空着、而且坐得下的教室，容量最贴近的排在前面，避免排课冲突。右边是改版后的数据大屏，管理员和教师都能打开，但看到的范围不同：管理员看全校，教师只看自己任课的课程和学生，学生不能打开，后端按身份把关。大屏按「全校数据很多时也能看」来设计：今天的课按节次汇总，并提醒上课超过 5 分钟还没发起签到的课；出勤只列出勤率最低的几门，人数太少的课不参与排名；学业预警给分级人数和按学院的分布，打开投屏模式时学生姓名只显示姓。后端按查看人分别缓存 30 秒，页面每分钟自动刷新。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这是微信小程序端，和 Web 端同步按课程空间改版，底部五个 tab 是首页、课程、日程、消息、我的，共 22 个页面。图中依次是：登录页，只填账号密码，系统自动识别身份；学生首页，显示正在上的课；课程空间的签到页，学生输入老师给的签到码即可签到；日程的周课表；以及管理员的第三个 tab「后台」，可以进入课程管理、教室、请假审批、组织架构、人员等页面。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测试方面，三端共有 502 个单元测试，今天重新运行全部通过：后端 233 个、小程序 188 个、Web 前端 81 个；数据大屏的可见范围（学生被拒绝、教师只查本人任课）和加载骨架屏的显示时机也有专门的测试。测试重点放在业务规则和算法上：选课与退选的各种边界、成绩册的折算与记账、课堂签到的过期和锁定、预警与推荐算法，以及删除保护。后端测试用 Mockito 模拟数据访问，不启动 Spring 容器、不连数据库，跑一遍约一分钟。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性能方面，我用 EXPLAIN 验证了索引效果：按教师查成绩、按课程和学生查成绩走 ref，按用户名登录走 const；没有索引的请假状态查询作为对照组，走的是全表扫描。此外还做了几项优化：请求级用户缓存把一次写请求的账号查询从三四次降到一次；统计计算下推到数据库；大屏和推荐结果做进程内缓存；前端按需引入组件，首屏样式从 355KB 降到 216KB。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总结一下：本课题完成了 Web 端、小程序端和后端三端的设计与实现，以课程空间组织教学；课堂签到、作业任务和成绩册在一门课里完成；构建了较完整的安全体系和删除保护；实现了课程推荐和学业预警两个算法，并用 502 个单元测试保障核心逻辑。不足之处在于部分状态保存在进程内，目前只适合单实例部署，后续可以引入 Redis；4 位签到码存在代签的可能，可以结合定位或动态二维码；小程序还需要备案域名才能正式上线；排课也可以从空闲教室推荐扩展为全校课表的自动编排。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我的汇报到此结束，感谢各位老师的聆听，恳请各位老师批评指正。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0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C2A2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93"/>
                </a:solidFill>
              </a:rPr>
              <a:t>基于 Spring Boot + Vue 的教务管理系统设计与实现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5F6B66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7211D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WCASE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93"/>
                </a:solidFill>
              </a:rPr>
              <a:t>基于 Spring Boot + Vue 的教务管理系统设计与实现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5F6B66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7211D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8.png"/><Relationship Id="rId9" Type="http://schemas.openxmlformats.org/officeDocument/2006/relationships/image" Target="../media/image-5-2.png"/><Relationship Id="rId10" Type="http://schemas.openxmlformats.org/officeDocument/2006/relationships/image" Target="../media/image-5-2.png"/><Relationship Id="rId11" Type="http://schemas.openxmlformats.org/officeDocument/2006/relationships/image" Target="../media/image-5-2.png"/><Relationship Id="rId12" Type="http://schemas.openxmlformats.org/officeDocument/2006/relationships/image" Target="../media/image-5-2.png"/><Relationship Id="rId13" Type="http://schemas.openxmlformats.org/officeDocument/2006/relationships/image" Target="../media/image-5-2.png"/><Relationship Id="rId14" Type="http://schemas.openxmlformats.org/officeDocument/2006/relationships/image" Target="../media/image-5-2.png"/><Relationship Id="rId15" Type="http://schemas.openxmlformats.org/officeDocument/2006/relationships/image" Target="../media/image-5-15.png"/><Relationship Id="rId16" Type="http://schemas.openxmlformats.org/officeDocument/2006/relationships/image" Target="../media/image-5-2.png"/><Relationship Id="rId17" Type="http://schemas.openxmlformats.org/officeDocument/2006/relationships/image" Target="../media/image-5-2.png"/><Relationship Id="rId18" Type="http://schemas.openxmlformats.org/officeDocument/2006/relationships/image" Target="../media/image-5-2.png"/><Relationship Id="rId19" Type="http://schemas.openxmlformats.org/officeDocument/2006/relationships/image" Target="../media/image-5-2.png"/><Relationship Id="rId20" Type="http://schemas.openxmlformats.org/officeDocument/2006/relationships/image" Target="../media/image-5-2.png"/><Relationship Id="rId21" Type="http://schemas.openxmlformats.org/officeDocument/2006/relationships/image" Target="../media/image-5-2.png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系统品牌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43584" y="60350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教务管理系统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A9D8C8"/>
                </a:solidFill>
              </a:rPr>
              <a:t>   Educational Management System</a:t>
            </a:r>
            <a:endParaRPr lang="zh-CN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276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EDB04A"/>
                </a:solidFill>
              </a:rPr>
              <a:t>本科毕业设计（论文）答辩</a:t>
            </a:r>
            <a:endParaRPr lang="zh-CN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103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FFFFFF"/>
                </a:solidFill>
              </a:rPr>
              <a:t>基于 Spring Boot + Vue 的</a:t>
            </a:r>
            <a:endParaRPr lang="zh-CN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61518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教务管理系统设计与实现</a:t>
            </a:r>
            <a:endParaRPr lang="zh-CN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478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A9D8C8"/>
                </a:solidFill>
              </a:rPr>
              <a:t>以「课程空间」组织教学</a:t>
            </a:r>
            <a:endParaRPr lang="zh-CN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7705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Web 端 · 微信小程序端 · Spring Boot 统一后端</a:t>
            </a:r>
            <a:endParaRPr lang="zh-CN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答辩人：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【姓名】</a:t>
            </a:r>
            <a:endParaRPr lang="zh-CN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4434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学　号：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【学号】</a:t>
            </a:r>
            <a:endParaRPr lang="zh-CN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学　院：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【学院名称】</a:t>
            </a:r>
            <a:endParaRPr lang="zh-CN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4910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专业班级：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【专业班级】</a:t>
            </a:r>
            <a:endParaRPr lang="zh-CN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3858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指导教师：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【指导教师】</a:t>
            </a:r>
            <a:endParaRPr lang="zh-CN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53858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答辩日期：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【2026 年 X 月 X 日】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6537960" y="1188720"/>
            <a:ext cx="5166360" cy="3497580"/>
          </a:xfrm>
          <a:prstGeom prst="roundRect">
            <a:avLst>
              <a:gd name="adj" fmla="val 1830"/>
            </a:avLst>
          </a:prstGeom>
          <a:solidFill>
            <a:srgbClr val="EEF2F0"/>
          </a:solidFill>
          <a:ln w="9525">
            <a:solidFill>
              <a:srgbClr val="2D4A41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128473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812280" y="1284732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0" y="128473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141464" y="1243584"/>
            <a:ext cx="25831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1243584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localhost:8080/home</a:t>
            </a:r>
            <a:endParaRPr lang="zh-CN" sz="850" dirty="0"/>
          </a:p>
        </p:txBody>
      </p:sp>
      <p:pic>
        <p:nvPicPr>
          <p:cNvPr id="21" name="Image 1" descr="localhost:8080/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1463040"/>
            <a:ext cx="5120640" cy="3200400"/>
          </a:xfrm>
          <a:prstGeom prst="rect">
            <a:avLst/>
          </a:prstGeom>
        </p:spPr>
      </p:pic>
      <p:pic>
        <p:nvPicPr>
          <p:cNvPr id="22" name="Image 2" descr="h5-s-home-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2697480"/>
            <a:ext cx="1463040" cy="3079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377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4800" b="1" dirty="0">
                <a:solidFill>
                  <a:srgbClr val="FFFFFF"/>
                </a:solidFill>
              </a:rPr>
              <a:t>目录</a:t>
            </a:r>
            <a:endParaRPr lang="zh-CN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spc="600" kern="0" dirty="0">
                <a:solidFill>
                  <a:srgbClr val="A9D8C8"/>
                </a:solidFill>
              </a:rPr>
              <a:t>CONTENTS</a:t>
            </a:r>
            <a:endParaRPr lang="zh-CN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731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01</a:t>
            </a:r>
            <a:endParaRPr lang="zh-CN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658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研究背景与意义</a:t>
            </a:r>
            <a:endParaRPr lang="zh-CN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042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教务管理现状与系统建设目标</a:t>
            </a:r>
            <a:endParaRPr lang="zh-CN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408176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1790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02</a:t>
            </a:r>
            <a:endParaRPr lang="zh-CN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444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需求分析</a:t>
            </a:r>
            <a:endParaRPr lang="zh-CN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三类角色的功能需求与非功能需求</a:t>
            </a:r>
            <a:endParaRPr lang="zh-CN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3042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03</a:t>
            </a:r>
            <a:endParaRPr lang="zh-CN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31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系统设计</a:t>
            </a:r>
            <a:endParaRPr lang="zh-CN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6151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总体架构、技术选型、以课程为中心的功能模块与数据库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980944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0906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04</a:t>
            </a:r>
            <a:endParaRPr lang="zh-CN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关键技术与实现</a:t>
            </a:r>
            <a:endParaRPr lang="zh-CN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401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权限安全、课堂签到与成绩册、课程推荐、学业预警、实时通知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3767328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8770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05</a:t>
            </a:r>
            <a:endParaRPr lang="zh-CN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8039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系统展示</a:t>
            </a:r>
            <a:endParaRPr lang="zh-CN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187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Web 端首页与课程空间、课程广场与日程、教务后台、小程序端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4553712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4663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06</a:t>
            </a:r>
            <a:endParaRPr lang="zh-CN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4590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系统测试</a:t>
            </a:r>
            <a:endParaRPr lang="zh-CN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4974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502 个单元测试与查询性能验证</a:t>
            </a:r>
            <a:endParaRPr lang="zh-CN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5340096"/>
            <a:ext cx="70866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5449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0F7B63"/>
                </a:solidFill>
              </a:rPr>
              <a:t>07</a:t>
            </a:r>
            <a:endParaRPr lang="zh-CN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5376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总结与展望</a:t>
            </a:r>
            <a:endParaRPr lang="zh-CN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5760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完成情况与后续改进方向</a:t>
            </a:r>
            <a:endParaRPr lang="zh-C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01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研究背景与意义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研究背景与意义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现状与问题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0175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94560"/>
            <a:ext cx="548640" cy="548640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7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3262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信息分散</a:t>
            </a:r>
            <a:endParaRPr lang="zh-CN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89504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学院、专业、班级、课程、成绩等数据分散在表格和多个系统中，口径不一，汇总统计费时。</a:t>
            </a:r>
            <a:endParaRPr lang="zh-CN" sz="1300" dirty="0"/>
          </a:p>
        </p:txBody>
      </p:sp>
      <p:sp>
        <p:nvSpPr>
          <p:cNvPr id="10" name="Shape 7"/>
          <p:cNvSpPr/>
          <p:nvPr/>
        </p:nvSpPr>
        <p:spPr>
          <a:xfrm>
            <a:off x="3794760" y="1938528"/>
            <a:ext cx="30175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50792" y="2194560"/>
            <a:ext cx="548640" cy="548640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12" name="Image 1" descr="shuff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66" y="23262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488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流程割裂</a:t>
            </a:r>
            <a:endParaRPr lang="zh-CN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050792" y="2889504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签到、作业、成绩、评教分散在不同菜单，一门课的事要来回切换，反馈也不及时。</a:t>
            </a:r>
            <a:endParaRPr lang="zh-CN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41648"/>
            <a:ext cx="30175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297680"/>
            <a:ext cx="548640" cy="548640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17" name="Image 2" descr="smart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4293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访问受限</a:t>
            </a:r>
            <a:endParaRPr lang="zh-CN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" y="4992624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传统系统以电脑端为主，师生难以随时随地查看课表、成绩和通知。</a:t>
            </a:r>
            <a:endParaRPr lang="zh-CN" sz="1300" dirty="0"/>
          </a:p>
        </p:txBody>
      </p:sp>
      <p:sp>
        <p:nvSpPr>
          <p:cNvPr id="20" name="Shape 15"/>
          <p:cNvSpPr/>
          <p:nvPr/>
        </p:nvSpPr>
        <p:spPr>
          <a:xfrm>
            <a:off x="3794760" y="4041648"/>
            <a:ext cx="301752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050792" y="4297680"/>
            <a:ext cx="548640" cy="548640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22" name="Image 3" descr="trending-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466" y="442935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5488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缺少数据支撑</a:t>
            </a:r>
            <a:endParaRPr lang="zh-CN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4050792" y="4992624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难以及早发现成绩下滑、缺勤偏多的学生；选课也缺少个性化参考。</a:t>
            </a:r>
            <a:endParaRPr lang="zh-CN" sz="1300" dirty="0"/>
          </a:p>
        </p:txBody>
      </p:sp>
      <p:sp>
        <p:nvSpPr>
          <p:cNvPr id="25" name="Shape 19"/>
          <p:cNvSpPr/>
          <p:nvPr/>
        </p:nvSpPr>
        <p:spPr>
          <a:xfrm>
            <a:off x="7269480" y="1481328"/>
            <a:ext cx="4370832" cy="4645152"/>
          </a:xfrm>
          <a:prstGeom prst="roundRect">
            <a:avLst>
              <a:gd name="adj" fmla="val 2510"/>
            </a:avLst>
          </a:prstGeom>
          <a:solidFill>
            <a:srgbClr val="0C2A2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5895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研究意义</a:t>
            </a:r>
            <a:endParaRPr lang="zh-CN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200" b="1" dirty="0">
                <a:solidFill>
                  <a:srgbClr val="3FB08F"/>
                </a:solidFill>
              </a:rPr>
              <a:t>01</a:t>
            </a:r>
            <a:endParaRPr lang="zh-CN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827532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统一平台</a:t>
            </a:r>
            <a:endParaRPr lang="zh-CN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275320" y="277977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C9E3DA"/>
                </a:solidFill>
              </a:rPr>
              <a:t>Web 端与微信小程序共用一套后端，数据一处维护、多端同步。</a:t>
            </a:r>
            <a:endParaRPr lang="zh-CN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3584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200" b="1" dirty="0">
                <a:solidFill>
                  <a:srgbClr val="3FB08F"/>
                </a:solidFill>
              </a:rPr>
              <a:t>02</a:t>
            </a:r>
            <a:endParaRPr lang="zh-CN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8275320" y="36027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以课程为中心</a:t>
            </a:r>
            <a:endParaRPr lang="zh-CN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275320" y="3986784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C9E3DA"/>
                </a:solidFill>
              </a:rPr>
              <a:t>签到、作业、成绩、评价、资料都在「课程空间」里完成，业务在线闭环。</a:t>
            </a:r>
            <a:endParaRPr lang="zh-CN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589520" y="47914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200" b="1" dirty="0">
                <a:solidFill>
                  <a:srgbClr val="3FB08F"/>
                </a:solidFill>
              </a:rPr>
              <a:t>03</a:t>
            </a:r>
            <a:endParaRPr lang="zh-CN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8275320" y="4809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数据驱动</a:t>
            </a:r>
            <a:endParaRPr lang="zh-CN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8275320" y="519379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C9E3DA"/>
                </a:solidFill>
              </a:rPr>
              <a:t>学业预警及早发现风险学生，协同过滤推荐辅助学生选课。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01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研究背景与意义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研究内容与主要工作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039112" cy="1627632"/>
          </a:xfrm>
          <a:prstGeom prst="roundRect">
            <a:avLst>
              <a:gd name="adj" fmla="val 6742"/>
            </a:avLst>
          </a:prstGeom>
          <a:solidFill>
            <a:srgbClr val="F2F8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F7B63"/>
                </a:solidFill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F7B63"/>
                </a:solidFill>
              </a:rPr>
              <a:t> 类</a:t>
            </a:r>
            <a:endParaRPr lang="zh-CN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用户角色</a:t>
            </a:r>
            <a:endParaRPr lang="zh-CN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管理员 · 教师 · 学生</a:t>
            </a:r>
            <a:endParaRPr lang="zh-CN" sz="1100" dirty="0"/>
          </a:p>
        </p:txBody>
      </p:sp>
      <p:sp>
        <p:nvSpPr>
          <p:cNvPr id="8" name="Shape 6"/>
          <p:cNvSpPr/>
          <p:nvPr/>
        </p:nvSpPr>
        <p:spPr>
          <a:xfrm>
            <a:off x="2813609" y="1481328"/>
            <a:ext cx="2039112" cy="1627632"/>
          </a:xfrm>
          <a:prstGeom prst="roundRect">
            <a:avLst>
              <a:gd name="adj" fmla="val 6742"/>
            </a:avLst>
          </a:prstGeom>
          <a:solidFill>
            <a:srgbClr val="F2F8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42209" y="15910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F7B63"/>
                </a:solidFill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F7B63"/>
                </a:solidFill>
              </a:rPr>
              <a:t> 个</a:t>
            </a:r>
            <a:endParaRPr lang="zh-CN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42209" y="2331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客户端</a:t>
            </a:r>
            <a:endParaRPr lang="zh-CN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2209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Web 端 · 微信小程序</a:t>
            </a:r>
            <a:endParaRPr lang="zh-CN" sz="11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9112" cy="1627632"/>
          </a:xfrm>
          <a:prstGeom prst="roundRect">
            <a:avLst>
              <a:gd name="adj" fmla="val 6742"/>
            </a:avLst>
          </a:prstGeom>
          <a:solidFill>
            <a:srgbClr val="F2F8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7178" y="15910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F7B63"/>
                </a:solidFill>
              </a:rPr>
              <a:t>27</a:t>
            </a:r>
            <a:pPr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F7B63"/>
                </a:solidFill>
              </a:rPr>
              <a:t> 张</a:t>
            </a:r>
            <a:endParaRPr lang="zh-CN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7178" y="2331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数据表</a:t>
            </a:r>
            <a:endParaRPr lang="zh-CN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7178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含 5 张课程空间新表</a:t>
            </a:r>
            <a:endParaRPr lang="zh-CN" sz="1100" dirty="0"/>
          </a:p>
        </p:txBody>
      </p:sp>
      <p:sp>
        <p:nvSpPr>
          <p:cNvPr id="16" name="Shape 14"/>
          <p:cNvSpPr/>
          <p:nvPr/>
        </p:nvSpPr>
        <p:spPr>
          <a:xfrm>
            <a:off x="7343546" y="1481328"/>
            <a:ext cx="2039112" cy="1627632"/>
          </a:xfrm>
          <a:prstGeom prst="roundRect">
            <a:avLst>
              <a:gd name="adj" fmla="val 6742"/>
            </a:avLst>
          </a:prstGeom>
          <a:solidFill>
            <a:srgbClr val="F2F8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72146" y="15910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F7B63"/>
                </a:solidFill>
              </a:rPr>
              <a:t>22</a:t>
            </a:r>
            <a:pPr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F7B63"/>
                </a:solidFill>
              </a:rPr>
              <a:t> 个</a:t>
            </a:r>
            <a:endParaRPr lang="zh-CN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72146" y="2331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小程序页面</a:t>
            </a:r>
            <a:endParaRPr lang="zh-CN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72146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主包 9 + 课程 4 + 后台 9</a:t>
            </a:r>
            <a:endParaRPr lang="zh-CN" sz="1100" dirty="0"/>
          </a:p>
        </p:txBody>
      </p:sp>
      <p:sp>
        <p:nvSpPr>
          <p:cNvPr id="20" name="Shape 18"/>
          <p:cNvSpPr/>
          <p:nvPr/>
        </p:nvSpPr>
        <p:spPr>
          <a:xfrm>
            <a:off x="9608515" y="1481328"/>
            <a:ext cx="2039112" cy="1627632"/>
          </a:xfrm>
          <a:prstGeom prst="roundRect">
            <a:avLst>
              <a:gd name="adj" fmla="val 6742"/>
            </a:avLst>
          </a:prstGeom>
          <a:solidFill>
            <a:srgbClr val="F2F8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37115" y="15910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F7B63"/>
                </a:solidFill>
              </a:rPr>
              <a:t>502</a:t>
            </a:r>
            <a:pPr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F7B63"/>
                </a:solidFill>
              </a:rPr>
              <a:t> 个</a:t>
            </a:r>
            <a:endParaRPr lang="zh-CN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37115" y="2331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单元测试</a:t>
            </a:r>
            <a:endParaRPr lang="zh-CN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37115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三端实测全部通过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01568"/>
            <a:ext cx="54406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730752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1</a:t>
            </a:r>
            <a:endParaRPr lang="zh-CN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35844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以课程为中心的三端系统</a:t>
            </a:r>
            <a:endParaRPr lang="zh-CN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36192" y="3950208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Spring Boot 统一后端 + Vue 3 Web 端 + uni-app 小程序；每门课一个课程空间，七个分页办完这门课的事</a:t>
            </a:r>
            <a:endParaRPr lang="zh-CN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3401568"/>
            <a:ext cx="54406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3730752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2</a:t>
            </a:r>
            <a:endParaRPr lang="zh-CN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35844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安全与数据一致性</a:t>
            </a:r>
            <a:endParaRPr lang="zh-CN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87184" y="3950208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JWT + BCrypt + 验证码与登录锁定；RBAC 权限在线配置，四层把关；删除保护与级联同步避免孤儿数据</a:t>
            </a:r>
            <a:endParaRPr lang="zh-CN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791456"/>
            <a:ext cx="54406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120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120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3</a:t>
            </a:r>
            <a:endParaRPr lang="zh-CN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36192" y="4974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算法与成绩模型</a:t>
            </a:r>
            <a:endParaRPr lang="zh-CN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536192" y="5340096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基于物品的协同过滤课程推荐；多指标加权学业预警；考勤分、作业分自动折算的四项加权成绩册</a:t>
            </a:r>
            <a:endParaRPr lang="zh-CN" sz="1250" dirty="0"/>
          </a:p>
        </p:txBody>
      </p:sp>
      <p:sp>
        <p:nvSpPr>
          <p:cNvPr id="39" name="Shape 37"/>
          <p:cNvSpPr/>
          <p:nvPr/>
        </p:nvSpPr>
        <p:spPr>
          <a:xfrm>
            <a:off x="6199632" y="4791456"/>
            <a:ext cx="54406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55664" y="5120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55664" y="5120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4</a:t>
            </a:r>
            <a:endParaRPr lang="zh-CN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187184" y="4974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体验与工程化</a:t>
            </a:r>
            <a:endParaRPr lang="zh-CN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187184" y="5340096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WebSocket 实时通知与站内消息；中英文、深浅色、主题色多端同步；通用 CRUD 框架，Docker 一键部署</a:t>
            </a:r>
            <a:endParaRPr lang="zh-C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02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需求分析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功能需求分析：三类角色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603504" cy="60350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6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863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700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17211D"/>
                </a:solidFill>
              </a:rPr>
              <a:t>管理员</a:t>
            </a:r>
            <a:endParaRPr lang="zh-CN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教务后台：基础数据与系统维护</a:t>
            </a:r>
            <a:endParaRPr lang="zh-CN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542032"/>
            <a:ext cx="29718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pic>
        <p:nvPicPr>
          <p:cNvPr id="10" name="Image 1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5234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724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开课向导与排课（只列空闲教室）</a:t>
            </a:r>
            <a:endParaRPr lang="zh-CN" sz="1400" dirty="0"/>
          </a:p>
        </p:txBody>
      </p:sp>
      <p:pic>
        <p:nvPicPr>
          <p:cNvPr id="12" name="Image 2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369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52144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组织架构与人员（Excel 导入导出）</a:t>
            </a:r>
            <a:endParaRPr lang="zh-CN" sz="1400" dirty="0"/>
          </a:p>
        </p:txBody>
      </p:sp>
      <p:pic>
        <p:nvPicPr>
          <p:cNvPr id="14" name="Image 3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2160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52144" y="36941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请假审批看板</a:t>
            </a:r>
            <a:endParaRPr lang="zh-CN" sz="1400" dirty="0"/>
          </a:p>
        </p:txBody>
      </p:sp>
      <p:pic>
        <p:nvPicPr>
          <p:cNvPr id="16" name="Image 4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0624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52144" y="41788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考试安排与教室占用</a:t>
            </a:r>
            <a:endParaRPr lang="zh-CN" sz="1400" dirty="0"/>
          </a:p>
        </p:txBody>
      </p:sp>
      <p:pic>
        <p:nvPicPr>
          <p:cNvPr id="18" name="Image 5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69087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52144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学期设置与教学周</a:t>
            </a:r>
            <a:endParaRPr lang="zh-CN" sz="1400" dirty="0"/>
          </a:p>
        </p:txBody>
      </p:sp>
      <p:pic>
        <p:nvPicPr>
          <p:cNvPr id="20" name="Image 6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75504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52144" y="5148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权限设置与日志审计</a:t>
            </a:r>
            <a:endParaRPr lang="zh-CN" sz="1400" dirty="0"/>
          </a:p>
        </p:txBody>
      </p:sp>
      <p:sp>
        <p:nvSpPr>
          <p:cNvPr id="22" name="Shape 13"/>
          <p:cNvSpPr/>
          <p:nvPr/>
        </p:nvSpPr>
        <p:spPr>
          <a:xfrm>
            <a:off x="4334256" y="1481328"/>
            <a:ext cx="352044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608576" y="1719072"/>
            <a:ext cx="603504" cy="60350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24" name="Image 7" descr="briefca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3417" y="1863913"/>
            <a:ext cx="313822" cy="31382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358384" y="1700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17211D"/>
                </a:solidFill>
              </a:rPr>
              <a:t>教师</a:t>
            </a:r>
            <a:endParaRPr lang="zh-CN" sz="2000" dirty="0"/>
          </a:p>
        </p:txBody>
      </p:sp>
      <p:sp>
        <p:nvSpPr>
          <p:cNvPr id="26" name="Text 16"/>
          <p:cNvSpPr txBox="1"/>
          <p:nvPr/>
        </p:nvSpPr>
        <p:spPr>
          <a:xfrm>
            <a:off x="5358384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在课程空间里完成教学</a:t>
            </a:r>
            <a:endParaRPr lang="zh-CN" sz="1200" dirty="0"/>
          </a:p>
        </p:txBody>
      </p:sp>
      <p:sp>
        <p:nvSpPr>
          <p:cNvPr id="27" name="Shape 17"/>
          <p:cNvSpPr/>
          <p:nvPr/>
        </p:nvSpPr>
        <p:spPr>
          <a:xfrm>
            <a:off x="4608576" y="2542032"/>
            <a:ext cx="29718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pic>
        <p:nvPicPr>
          <p:cNvPr id="28" name="Image 8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2752344"/>
            <a:ext cx="219456" cy="21945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37760" y="2724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发起课堂签到（4 位签到码）</a:t>
            </a:r>
            <a:endParaRPr lang="zh-CN" sz="1400" dirty="0"/>
          </a:p>
        </p:txBody>
      </p:sp>
      <p:pic>
        <p:nvPicPr>
          <p:cNvPr id="30" name="Image 9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8576" y="3236976"/>
            <a:ext cx="219456" cy="21945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937760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布置作业、逐份批改</a:t>
            </a:r>
            <a:endParaRPr lang="zh-CN" sz="1400" dirty="0"/>
          </a:p>
        </p:txBody>
      </p:sp>
      <p:pic>
        <p:nvPicPr>
          <p:cNvPr id="32" name="Image 10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8576" y="3721608"/>
            <a:ext cx="219456" cy="219456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4937760" y="36941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成绩册：四项权重、发布总评</a:t>
            </a:r>
            <a:endParaRPr lang="zh-CN" sz="1400" dirty="0"/>
          </a:p>
        </p:txBody>
      </p:sp>
      <p:pic>
        <p:nvPicPr>
          <p:cNvPr id="34" name="Image 11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8576" y="4206240"/>
            <a:ext cx="219456" cy="219456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937760" y="41788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查看匿名评价、上传资料</a:t>
            </a:r>
            <a:endParaRPr lang="zh-CN" sz="1400" dirty="0"/>
          </a:p>
        </p:txBody>
      </p:sp>
      <p:pic>
        <p:nvPicPr>
          <p:cNvPr id="36" name="Image 12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8576" y="4690872"/>
            <a:ext cx="219456" cy="219456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4937760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发布课程公告</a:t>
            </a:r>
            <a:endParaRPr lang="zh-CN" sz="1400" dirty="0"/>
          </a:p>
        </p:txBody>
      </p:sp>
      <p:pic>
        <p:nvPicPr>
          <p:cNvPr id="38" name="Image 13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8576" y="5175504"/>
            <a:ext cx="219456" cy="219456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4937760" y="5148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关注预警学生并一键提醒</a:t>
            </a:r>
            <a:endParaRPr lang="zh-CN" sz="1400" dirty="0"/>
          </a:p>
        </p:txBody>
      </p:sp>
      <p:sp>
        <p:nvSpPr>
          <p:cNvPr id="40" name="Shape 24"/>
          <p:cNvSpPr/>
          <p:nvPr/>
        </p:nvSpPr>
        <p:spPr>
          <a:xfrm>
            <a:off x="8119872" y="1481328"/>
            <a:ext cx="352044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41" name="Shape 25"/>
          <p:cNvSpPr/>
          <p:nvPr/>
        </p:nvSpPr>
        <p:spPr>
          <a:xfrm>
            <a:off x="8394192" y="1719072"/>
            <a:ext cx="603504" cy="60350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42" name="Image 14" descr="graduati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9033" y="1863913"/>
            <a:ext cx="313822" cy="313822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9144000" y="1700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17211D"/>
                </a:solidFill>
              </a:rPr>
              <a:t>学生</a:t>
            </a:r>
            <a:endParaRPr lang="zh-CN" sz="2000" dirty="0"/>
          </a:p>
        </p:txBody>
      </p:sp>
      <p:sp>
        <p:nvSpPr>
          <p:cNvPr id="44" name="Text 27"/>
          <p:cNvSpPr txBox="1"/>
          <p:nvPr/>
        </p:nvSpPr>
        <p:spPr>
          <a:xfrm>
            <a:off x="9144000" y="2075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学习事务一处办好</a:t>
            </a:r>
            <a:endParaRPr lang="zh-CN" sz="1200" dirty="0"/>
          </a:p>
        </p:txBody>
      </p:sp>
      <p:sp>
        <p:nvSpPr>
          <p:cNvPr id="45" name="Shape 28"/>
          <p:cNvSpPr/>
          <p:nvPr/>
        </p:nvSpPr>
        <p:spPr>
          <a:xfrm>
            <a:off x="8394192" y="2542032"/>
            <a:ext cx="2971800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pic>
        <p:nvPicPr>
          <p:cNvPr id="46" name="Image 15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4192" y="2752344"/>
            <a:ext cx="219456" cy="219456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8723376" y="2724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课程广场选课 / 退课</a:t>
            </a:r>
            <a:endParaRPr lang="zh-CN" sz="1400" dirty="0"/>
          </a:p>
        </p:txBody>
      </p:sp>
      <p:pic>
        <p:nvPicPr>
          <p:cNvPr id="48" name="Image 16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94192" y="3236976"/>
            <a:ext cx="219456" cy="219456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8723376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周课表与月历，在月历上请假</a:t>
            </a:r>
            <a:endParaRPr lang="zh-CN" sz="1400" dirty="0"/>
          </a:p>
        </p:txBody>
      </p:sp>
      <p:pic>
        <p:nvPicPr>
          <p:cNvPr id="50" name="Image 17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4192" y="3721608"/>
            <a:ext cx="219456" cy="219456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8723376" y="36941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签到、交作业、看成绩</a:t>
            </a:r>
            <a:endParaRPr lang="zh-CN" sz="1400" dirty="0"/>
          </a:p>
        </p:txBody>
      </p:sp>
      <p:pic>
        <p:nvPicPr>
          <p:cNvPr id="52" name="Image 18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4192" y="4206240"/>
            <a:ext cx="219456" cy="219456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8723376" y="41788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课程结束后五维评价</a:t>
            </a:r>
            <a:endParaRPr lang="zh-CN" sz="1400" dirty="0"/>
          </a:p>
        </p:txBody>
      </p:sp>
      <p:pic>
        <p:nvPicPr>
          <p:cNvPr id="54" name="Image 19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4192" y="4690872"/>
            <a:ext cx="219456" cy="219456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8723376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成绩单：已修学分与绩点</a:t>
            </a:r>
            <a:endParaRPr lang="zh-CN" sz="1400" dirty="0"/>
          </a:p>
        </p:txBody>
      </p:sp>
      <p:pic>
        <p:nvPicPr>
          <p:cNvPr id="56" name="Image 20" descr="C:\Users\Administrator\AppData\Local\Temp\claude\D--BISHE-BISHE-Software-manager-vue3\f2ab4d49-989b-4ced-bf6e-f56faa623e86\scratchpad\deck\img\icon-check-circle-g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94192" y="5175504"/>
            <a:ext cx="219456" cy="219456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8723376" y="5148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17211D"/>
                </a:solidFill>
              </a:rPr>
              <a:t>消息中心（离线可回看）</a:t>
            </a:r>
            <a:endParaRPr lang="zh-CN" sz="1400" dirty="0"/>
          </a:p>
        </p:txBody>
      </p:sp>
      <p:sp>
        <p:nvSpPr>
          <p:cNvPr id="58" name="Shape 35"/>
          <p:cNvSpPr/>
          <p:nvPr/>
        </p:nvSpPr>
        <p:spPr>
          <a:xfrm>
            <a:off x="548640" y="5815584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7F2EF"/>
          </a:solidFill>
          <a:ln/>
        </p:spPr>
      </p:sp>
      <p:sp>
        <p:nvSpPr>
          <p:cNvPr id="59" name="Text 36"/>
          <p:cNvSpPr txBox="1"/>
          <p:nvPr/>
        </p:nvSpPr>
        <p:spPr>
          <a:xfrm>
            <a:off x="777240" y="581558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0F7B63"/>
                </a:solidFill>
              </a:rPr>
              <a:t>数据隔离：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管理员可见全部数据；教师只看本人任课课程的签到、作业、成绩与评价；学生只看本人数据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02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需求分析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非功能需求分析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039112" cy="400507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755648"/>
            <a:ext cx="585216" cy="585216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6" name="Image 0" descr="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612" y="1896100"/>
            <a:ext cx="304312" cy="304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688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安全性</a:t>
            </a:r>
            <a:endParaRPr lang="zh-CN" sz="1800" dirty="0"/>
          </a:p>
        </p:txBody>
      </p:sp>
      <p:sp>
        <p:nvSpPr>
          <p:cNvPr id="8" name="Shape 5"/>
          <p:cNvSpPr/>
          <p:nvPr/>
        </p:nvSpPr>
        <p:spPr>
          <a:xfrm>
            <a:off x="713232" y="306324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3063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JWT 令牌认证</a:t>
            </a:r>
            <a:endParaRPr lang="zh-CN" sz="1250" dirty="0"/>
          </a:p>
        </p:txBody>
      </p:sp>
      <p:sp>
        <p:nvSpPr>
          <p:cNvPr id="10" name="Shape 7"/>
          <p:cNvSpPr/>
          <p:nvPr/>
        </p:nvSpPr>
        <p:spPr>
          <a:xfrm>
            <a:off x="713232" y="361188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3611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BCrypt 密码哈希</a:t>
            </a:r>
            <a:endParaRPr lang="zh-CN" sz="1250" dirty="0"/>
          </a:p>
        </p:txBody>
      </p:sp>
      <p:sp>
        <p:nvSpPr>
          <p:cNvPr id="12" name="Shape 9"/>
          <p:cNvSpPr/>
          <p:nvPr/>
        </p:nvSpPr>
        <p:spPr>
          <a:xfrm>
            <a:off x="713232" y="416052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416052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验证码 + 失败锁定</a:t>
            </a:r>
            <a:endParaRPr lang="zh-CN" sz="1250" dirty="0"/>
          </a:p>
        </p:txBody>
      </p:sp>
      <p:sp>
        <p:nvSpPr>
          <p:cNvPr id="14" name="Shape 11"/>
          <p:cNvSpPr/>
          <p:nvPr/>
        </p:nvSpPr>
        <p:spPr>
          <a:xfrm>
            <a:off x="713232" y="470916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" y="47091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接口级 RBAC 鉴权</a:t>
            </a:r>
            <a:endParaRPr lang="zh-CN" sz="1250" dirty="0"/>
          </a:p>
        </p:txBody>
      </p:sp>
      <p:sp>
        <p:nvSpPr>
          <p:cNvPr id="16" name="Shape 13"/>
          <p:cNvSpPr/>
          <p:nvPr/>
        </p:nvSpPr>
        <p:spPr>
          <a:xfrm>
            <a:off x="2813609" y="1481328"/>
            <a:ext cx="2039112" cy="400507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45129" y="1755648"/>
            <a:ext cx="585216" cy="585216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18" name="Image 1" descr="git-mer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81" y="1896100"/>
            <a:ext cx="304312" cy="304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13609" y="24688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一致性</a:t>
            </a:r>
            <a:endParaRPr lang="zh-CN" sz="1800" dirty="0"/>
          </a:p>
        </p:txBody>
      </p:sp>
      <p:sp>
        <p:nvSpPr>
          <p:cNvPr id="20" name="Shape 16"/>
          <p:cNvSpPr/>
          <p:nvPr/>
        </p:nvSpPr>
        <p:spPr>
          <a:xfrm>
            <a:off x="2978201" y="306324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8201" y="3063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删除保护 6 类场景</a:t>
            </a:r>
            <a:endParaRPr lang="zh-CN" sz="1250" dirty="0"/>
          </a:p>
        </p:txBody>
      </p:sp>
      <p:sp>
        <p:nvSpPr>
          <p:cNvPr id="22" name="Shape 18"/>
          <p:cNvSpPr/>
          <p:nvPr/>
        </p:nvSpPr>
        <p:spPr>
          <a:xfrm>
            <a:off x="2978201" y="361188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978201" y="3611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选课行锁防超卖</a:t>
            </a:r>
            <a:endParaRPr lang="zh-CN" sz="1250" dirty="0"/>
          </a:p>
        </p:txBody>
      </p:sp>
      <p:sp>
        <p:nvSpPr>
          <p:cNvPr id="24" name="Shape 20"/>
          <p:cNvSpPr/>
          <p:nvPr/>
        </p:nvSpPr>
        <p:spPr>
          <a:xfrm>
            <a:off x="2978201" y="416052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2978201" y="416052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换教师、改教室联动</a:t>
            </a:r>
            <a:endParaRPr lang="zh-CN" sz="1250" dirty="0"/>
          </a:p>
        </p:txBody>
      </p:sp>
      <p:sp>
        <p:nvSpPr>
          <p:cNvPr id="26" name="Shape 22"/>
          <p:cNvSpPr/>
          <p:nvPr/>
        </p:nvSpPr>
        <p:spPr>
          <a:xfrm>
            <a:off x="2978201" y="470916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978201" y="47091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时间以服务器为准</a:t>
            </a:r>
            <a:endParaRPr lang="zh-CN" sz="1250" dirty="0"/>
          </a:p>
        </p:txBody>
      </p:sp>
      <p:sp>
        <p:nvSpPr>
          <p:cNvPr id="28" name="Shape 24"/>
          <p:cNvSpPr/>
          <p:nvPr/>
        </p:nvSpPr>
        <p:spPr>
          <a:xfrm>
            <a:off x="5078578" y="1481328"/>
            <a:ext cx="2039112" cy="400507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810098" y="1755648"/>
            <a:ext cx="585216" cy="585216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30" name="Image 2" descr="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549" y="1896100"/>
            <a:ext cx="304312" cy="3043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078578" y="24688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易用性</a:t>
            </a:r>
            <a:endParaRPr lang="zh-CN" sz="1800" dirty="0"/>
          </a:p>
        </p:txBody>
      </p:sp>
      <p:sp>
        <p:nvSpPr>
          <p:cNvPr id="32" name="Shape 27"/>
          <p:cNvSpPr/>
          <p:nvPr/>
        </p:nvSpPr>
        <p:spPr>
          <a:xfrm>
            <a:off x="5243170" y="306324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243170" y="3063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以课程组织功能</a:t>
            </a:r>
            <a:endParaRPr lang="zh-CN" sz="1250" dirty="0"/>
          </a:p>
        </p:txBody>
      </p:sp>
      <p:sp>
        <p:nvSpPr>
          <p:cNvPr id="34" name="Shape 29"/>
          <p:cNvSpPr/>
          <p:nvPr/>
        </p:nvSpPr>
        <p:spPr>
          <a:xfrm>
            <a:off x="5243170" y="361188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5243170" y="3611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中英文一键切换</a:t>
            </a:r>
            <a:endParaRPr lang="zh-CN" sz="1250" dirty="0"/>
          </a:p>
        </p:txBody>
      </p:sp>
      <p:sp>
        <p:nvSpPr>
          <p:cNvPr id="36" name="Shape 31"/>
          <p:cNvSpPr/>
          <p:nvPr/>
        </p:nvSpPr>
        <p:spPr>
          <a:xfrm>
            <a:off x="5243170" y="416052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5243170" y="416052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深浅色与主题色</a:t>
            </a:r>
            <a:endParaRPr lang="zh-CN" sz="1250" dirty="0"/>
          </a:p>
        </p:txBody>
      </p:sp>
      <p:sp>
        <p:nvSpPr>
          <p:cNvPr id="38" name="Shape 33"/>
          <p:cNvSpPr/>
          <p:nvPr/>
        </p:nvSpPr>
        <p:spPr>
          <a:xfrm>
            <a:off x="5243170" y="470916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5243170" y="47091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偏好多端同步</a:t>
            </a:r>
            <a:endParaRPr lang="zh-CN" sz="1250" dirty="0"/>
          </a:p>
        </p:txBody>
      </p:sp>
      <p:sp>
        <p:nvSpPr>
          <p:cNvPr id="40" name="Shape 35"/>
          <p:cNvSpPr/>
          <p:nvPr/>
        </p:nvSpPr>
        <p:spPr>
          <a:xfrm>
            <a:off x="7343546" y="1481328"/>
            <a:ext cx="2039112" cy="400507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8075066" y="1755648"/>
            <a:ext cx="585216" cy="585216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42" name="Image 3" descr="to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518" y="1896100"/>
            <a:ext cx="304312" cy="30431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343546" y="24688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可维护性</a:t>
            </a:r>
            <a:endParaRPr lang="zh-CN" sz="1800" dirty="0"/>
          </a:p>
        </p:txBody>
      </p:sp>
      <p:sp>
        <p:nvSpPr>
          <p:cNvPr id="44" name="Shape 38"/>
          <p:cNvSpPr/>
          <p:nvPr/>
        </p:nvSpPr>
        <p:spPr>
          <a:xfrm>
            <a:off x="7508138" y="306324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7508138" y="3063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通用 CRUD 框架</a:t>
            </a:r>
            <a:endParaRPr lang="zh-CN" sz="1250" dirty="0"/>
          </a:p>
        </p:txBody>
      </p:sp>
      <p:sp>
        <p:nvSpPr>
          <p:cNvPr id="46" name="Shape 40"/>
          <p:cNvSpPr/>
          <p:nvPr/>
        </p:nvSpPr>
        <p:spPr>
          <a:xfrm>
            <a:off x="7508138" y="361188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7508138" y="3611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统一返回体与错误码</a:t>
            </a:r>
            <a:endParaRPr lang="zh-CN" sz="1250" dirty="0"/>
          </a:p>
        </p:txBody>
      </p:sp>
      <p:sp>
        <p:nvSpPr>
          <p:cNvPr id="48" name="Shape 42"/>
          <p:cNvSpPr/>
          <p:nvPr/>
        </p:nvSpPr>
        <p:spPr>
          <a:xfrm>
            <a:off x="7508138" y="416052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7508138" y="416052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启动时自动迁移</a:t>
            </a:r>
            <a:endParaRPr lang="zh-CN" sz="1250" dirty="0"/>
          </a:p>
        </p:txBody>
      </p:sp>
      <p:sp>
        <p:nvSpPr>
          <p:cNvPr id="50" name="Shape 44"/>
          <p:cNvSpPr/>
          <p:nvPr/>
        </p:nvSpPr>
        <p:spPr>
          <a:xfrm>
            <a:off x="7508138" y="470916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508138" y="47091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Knife4j 接口文档</a:t>
            </a:r>
            <a:endParaRPr lang="zh-CN" sz="1250" dirty="0"/>
          </a:p>
        </p:txBody>
      </p:sp>
      <p:sp>
        <p:nvSpPr>
          <p:cNvPr id="52" name="Shape 46"/>
          <p:cNvSpPr/>
          <p:nvPr/>
        </p:nvSpPr>
        <p:spPr>
          <a:xfrm>
            <a:off x="9608515" y="1481328"/>
            <a:ext cx="2039112" cy="400507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10340035" y="1755648"/>
            <a:ext cx="585216" cy="585216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54" name="Image 4" descr="z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487" y="1896100"/>
            <a:ext cx="304312" cy="304312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9608515" y="24688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性能与部署</a:t>
            </a:r>
            <a:endParaRPr lang="zh-CN" sz="1800" dirty="0"/>
          </a:p>
        </p:txBody>
      </p:sp>
      <p:sp>
        <p:nvSpPr>
          <p:cNvPr id="56" name="Shape 49"/>
          <p:cNvSpPr/>
          <p:nvPr/>
        </p:nvSpPr>
        <p:spPr>
          <a:xfrm>
            <a:off x="9773107" y="306324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9773107" y="3063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高频查询建索引</a:t>
            </a:r>
            <a:endParaRPr lang="zh-CN" sz="1250" dirty="0"/>
          </a:p>
        </p:txBody>
      </p:sp>
      <p:sp>
        <p:nvSpPr>
          <p:cNvPr id="58" name="Shape 51"/>
          <p:cNvSpPr/>
          <p:nvPr/>
        </p:nvSpPr>
        <p:spPr>
          <a:xfrm>
            <a:off x="9773107" y="361188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9773107" y="3611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统计下推数据库</a:t>
            </a:r>
            <a:endParaRPr lang="zh-CN" sz="1250" dirty="0"/>
          </a:p>
        </p:txBody>
      </p:sp>
      <p:sp>
        <p:nvSpPr>
          <p:cNvPr id="60" name="Shape 53"/>
          <p:cNvSpPr/>
          <p:nvPr/>
        </p:nvSpPr>
        <p:spPr>
          <a:xfrm>
            <a:off x="9773107" y="416052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9773107" y="416052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大屏、推荐结果缓存</a:t>
            </a:r>
            <a:endParaRPr lang="zh-CN" sz="1250" dirty="0"/>
          </a:p>
        </p:txBody>
      </p:sp>
      <p:sp>
        <p:nvSpPr>
          <p:cNvPr id="62" name="Shape 55"/>
          <p:cNvSpPr/>
          <p:nvPr/>
        </p:nvSpPr>
        <p:spPr>
          <a:xfrm>
            <a:off x="9773107" y="4709160"/>
            <a:ext cx="1709928" cy="420624"/>
          </a:xfrm>
          <a:prstGeom prst="roundRect">
            <a:avLst>
              <a:gd name="adj" fmla="val 17391"/>
            </a:avLst>
          </a:prstGeom>
          <a:solidFill>
            <a:srgbClr val="F2F8F6"/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9773107" y="470916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Docker 一键部署</a:t>
            </a:r>
            <a:endParaRPr lang="zh-CN" sz="1250" dirty="0"/>
          </a:p>
        </p:txBody>
      </p:sp>
      <p:sp>
        <p:nvSpPr>
          <p:cNvPr id="64" name="Shape 57"/>
          <p:cNvSpPr/>
          <p:nvPr/>
        </p:nvSpPr>
        <p:spPr>
          <a:xfrm>
            <a:off x="548640" y="5705856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C2A22"/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822960" y="57058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3FB08F"/>
                </a:solidFill>
              </a:rPr>
              <a:t>设计目标</a:t>
            </a:r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      安全可靠 · 数据一致 · 简单易用 · 易于维护 · 运行高效 · 部署便捷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系统设计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系统总体架构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0C2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表现层</a:t>
            </a:r>
            <a:endParaRPr lang="zh-CN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0C2A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接入层</a:t>
            </a:r>
            <a:endParaRPr lang="zh-CN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051560" cy="1755648"/>
          </a:xfrm>
          <a:prstGeom prst="roundRect">
            <a:avLst>
              <a:gd name="adj" fmla="val 6957"/>
            </a:avLst>
          </a:prstGeom>
          <a:solidFill>
            <a:srgbClr val="0C2A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56432"/>
            <a:ext cx="10515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业务层</a:t>
            </a:r>
            <a:endParaRPr lang="zh-CN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051560" cy="786384"/>
          </a:xfrm>
          <a:prstGeom prst="roundRect">
            <a:avLst>
              <a:gd name="adj" fmla="val 9302"/>
            </a:avLst>
          </a:prstGeom>
          <a:solidFill>
            <a:srgbClr val="0C2A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5394960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数据层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1783080" y="1481328"/>
            <a:ext cx="4828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664208"/>
            <a:ext cx="548640" cy="54864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14" name="Image 0" descr="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354" y="17958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743200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Web 端</a:t>
            </a:r>
            <a:endParaRPr lang="zh-CN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Vue 3 · TypeScript · Element Plus · Pinia · ECharts</a:t>
            </a:r>
            <a:endParaRPr lang="zh-CN" sz="1150" dirty="0"/>
          </a:p>
        </p:txBody>
      </p:sp>
      <p:sp>
        <p:nvSpPr>
          <p:cNvPr id="17" name="Shape 14"/>
          <p:cNvSpPr/>
          <p:nvPr/>
        </p:nvSpPr>
        <p:spPr>
          <a:xfrm>
            <a:off x="6812280" y="1481328"/>
            <a:ext cx="4828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40880" y="1664208"/>
            <a:ext cx="548640" cy="54864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19" name="Image 1" descr="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1795882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72400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微信小程序端</a:t>
            </a:r>
            <a:endParaRPr lang="zh-CN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uni-app（Vue 3）· Pinia · 自研 i18n · WebSocket</a:t>
            </a:r>
            <a:endParaRPr lang="zh-CN" sz="1150" dirty="0"/>
          </a:p>
        </p:txBody>
      </p:sp>
      <p:sp>
        <p:nvSpPr>
          <p:cNvPr id="22" name="Shape 18"/>
          <p:cNvSpPr/>
          <p:nvPr/>
        </p:nvSpPr>
        <p:spPr>
          <a:xfrm>
            <a:off x="4197096" y="2395728"/>
            <a:ext cx="0" cy="25603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23" name="Text 19"/>
          <p:cNvSpPr txBox="1"/>
          <p:nvPr/>
        </p:nvSpPr>
        <p:spPr>
          <a:xfrm>
            <a:off x="4480560" y="24140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HTTP / JSON · WebSocket · JWT 令牌</a:t>
            </a:r>
            <a:endParaRPr lang="zh-CN" sz="1100" dirty="0"/>
          </a:p>
        </p:txBody>
      </p:sp>
      <p:sp>
        <p:nvSpPr>
          <p:cNvPr id="24" name="Shape 20"/>
          <p:cNvSpPr/>
          <p:nvPr/>
        </p:nvSpPr>
        <p:spPr>
          <a:xfrm>
            <a:off x="9226296" y="2395728"/>
            <a:ext cx="0" cy="1060704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9372600" y="2761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直连后端接口</a:t>
            </a:r>
            <a:endParaRPr lang="zh-CN" sz="1100" dirty="0"/>
          </a:p>
        </p:txBody>
      </p:sp>
      <p:sp>
        <p:nvSpPr>
          <p:cNvPr id="26" name="Shape 22"/>
          <p:cNvSpPr/>
          <p:nvPr/>
        </p:nvSpPr>
        <p:spPr>
          <a:xfrm>
            <a:off x="1783080" y="2651760"/>
            <a:ext cx="4828032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01168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0F7B63"/>
                </a:solidFill>
              </a:rPr>
              <a:t>nginx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静态资源托管 + /api 反向代理（Docker 部署）</a:t>
            </a:r>
            <a:endParaRPr lang="zh-CN" sz="1300" dirty="0"/>
          </a:p>
        </p:txBody>
      </p:sp>
      <p:sp>
        <p:nvSpPr>
          <p:cNvPr id="28" name="Shape 24"/>
          <p:cNvSpPr/>
          <p:nvPr/>
        </p:nvSpPr>
        <p:spPr>
          <a:xfrm>
            <a:off x="4197096" y="3200400"/>
            <a:ext cx="0" cy="25603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1783080" y="3456432"/>
            <a:ext cx="985723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9050">
            <a:solidFill>
              <a:srgbClr val="0F7B6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35478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Spring Boot 2.7 后端服务（端口 9091）</a:t>
            </a:r>
            <a:endParaRPr lang="zh-CN" sz="1400" dirty="0"/>
          </a:p>
        </p:txBody>
      </p:sp>
      <p:sp>
        <p:nvSpPr>
          <p:cNvPr id="31" name="Shape 27"/>
          <p:cNvSpPr/>
          <p:nvPr/>
        </p:nvSpPr>
        <p:spPr>
          <a:xfrm>
            <a:off x="1965960" y="393192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7F2E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1965960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JwtInterceptor 令牌校验</a:t>
            </a:r>
            <a:endParaRPr lang="zh-CN" sz="1100" dirty="0"/>
          </a:p>
        </p:txBody>
      </p:sp>
      <p:sp>
        <p:nvSpPr>
          <p:cNvPr id="33" name="Shape 29"/>
          <p:cNvSpPr/>
          <p:nvPr/>
        </p:nvSpPr>
        <p:spPr>
          <a:xfrm>
            <a:off x="3694176" y="4160520"/>
            <a:ext cx="192024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3913632" y="393192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7F2EF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3913632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PermissionAspect 鉴权</a:t>
            </a:r>
            <a:endParaRPr lang="zh-CN" sz="1100" dirty="0"/>
          </a:p>
        </p:txBody>
      </p:sp>
      <p:sp>
        <p:nvSpPr>
          <p:cNvPr id="36" name="Shape 32"/>
          <p:cNvSpPr/>
          <p:nvPr/>
        </p:nvSpPr>
        <p:spPr>
          <a:xfrm>
            <a:off x="5641848" y="4160520"/>
            <a:ext cx="192024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5861304" y="393192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7F2EF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861304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Controller 接口层</a:t>
            </a:r>
            <a:endParaRPr lang="zh-CN" sz="1100" dirty="0"/>
          </a:p>
        </p:txBody>
      </p:sp>
      <p:sp>
        <p:nvSpPr>
          <p:cNvPr id="39" name="Shape 35"/>
          <p:cNvSpPr/>
          <p:nvPr/>
        </p:nvSpPr>
        <p:spPr>
          <a:xfrm>
            <a:off x="7589520" y="4160520"/>
            <a:ext cx="192024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7808976" y="393192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7F2EF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808976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Service 业务层</a:t>
            </a:r>
            <a:endParaRPr lang="zh-CN" sz="1100" dirty="0"/>
          </a:p>
        </p:txBody>
      </p:sp>
      <p:sp>
        <p:nvSpPr>
          <p:cNvPr id="42" name="Shape 38"/>
          <p:cNvSpPr/>
          <p:nvPr/>
        </p:nvSpPr>
        <p:spPr>
          <a:xfrm>
            <a:off x="9537192" y="4160520"/>
            <a:ext cx="192024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9756648" y="3931920"/>
            <a:ext cx="1700784" cy="457200"/>
          </a:xfrm>
          <a:prstGeom prst="roundRect">
            <a:avLst>
              <a:gd name="adj" fmla="val 12000"/>
            </a:avLst>
          </a:prstGeom>
          <a:solidFill>
            <a:srgbClr val="E7F2EF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756648" y="39319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Mapper · MyBatis</a:t>
            </a:r>
            <a:endParaRPr lang="zh-CN" sz="1100" dirty="0"/>
          </a:p>
        </p:txBody>
      </p:sp>
      <p:sp>
        <p:nvSpPr>
          <p:cNvPr id="45" name="Shape 41"/>
          <p:cNvSpPr/>
          <p:nvPr/>
        </p:nvSpPr>
        <p:spPr>
          <a:xfrm>
            <a:off x="1965960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196596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WebSocket 推送</a:t>
            </a:r>
            <a:endParaRPr lang="zh-CN" sz="1100" dirty="0"/>
          </a:p>
        </p:txBody>
      </p:sp>
      <p:sp>
        <p:nvSpPr>
          <p:cNvPr id="47" name="Shape 43"/>
          <p:cNvSpPr/>
          <p:nvPr/>
        </p:nvSpPr>
        <p:spPr>
          <a:xfrm>
            <a:off x="3570732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3570732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AOP 操作日志</a:t>
            </a:r>
            <a:endParaRPr lang="zh-CN" sz="1100" dirty="0"/>
          </a:p>
        </p:txBody>
      </p:sp>
      <p:sp>
        <p:nvSpPr>
          <p:cNvPr id="49" name="Shape 45"/>
          <p:cNvSpPr/>
          <p:nvPr/>
        </p:nvSpPr>
        <p:spPr>
          <a:xfrm>
            <a:off x="5175504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175504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定时任务</a:t>
            </a:r>
            <a:endParaRPr lang="zh-CN" sz="1100" dirty="0"/>
          </a:p>
        </p:txBody>
      </p:sp>
      <p:sp>
        <p:nvSpPr>
          <p:cNvPr id="51" name="Shape 47"/>
          <p:cNvSpPr/>
          <p:nvPr/>
        </p:nvSpPr>
        <p:spPr>
          <a:xfrm>
            <a:off x="6780276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6780276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文件上传 · 白名单</a:t>
            </a:r>
            <a:endParaRPr lang="zh-CN" sz="1100" dirty="0"/>
          </a:p>
        </p:txBody>
      </p:sp>
      <p:sp>
        <p:nvSpPr>
          <p:cNvPr id="53" name="Shape 49"/>
          <p:cNvSpPr/>
          <p:nvPr/>
        </p:nvSpPr>
        <p:spPr>
          <a:xfrm>
            <a:off x="8385048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8385048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业务时钟 · 北京时间</a:t>
            </a:r>
            <a:endParaRPr lang="zh-CN" sz="1100" dirty="0"/>
          </a:p>
        </p:txBody>
      </p:sp>
      <p:sp>
        <p:nvSpPr>
          <p:cNvPr id="55" name="Shape 51"/>
          <p:cNvSpPr/>
          <p:nvPr/>
        </p:nvSpPr>
        <p:spPr>
          <a:xfrm>
            <a:off x="9989820" y="4572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F3F2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998982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17211D"/>
                </a:solidFill>
              </a:rPr>
              <a:t>推荐与预警算法</a:t>
            </a:r>
            <a:endParaRPr lang="zh-CN" sz="1100" dirty="0"/>
          </a:p>
        </p:txBody>
      </p:sp>
      <p:sp>
        <p:nvSpPr>
          <p:cNvPr id="57" name="Shape 53"/>
          <p:cNvSpPr/>
          <p:nvPr/>
        </p:nvSpPr>
        <p:spPr>
          <a:xfrm>
            <a:off x="6711696" y="5212080"/>
            <a:ext cx="0" cy="18288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1783080" y="5394960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E7F2EF"/>
          </a:solidFill>
          <a:ln/>
        </p:spPr>
      </p:sp>
      <p:sp>
        <p:nvSpPr>
          <p:cNvPr id="59" name="Shape 55"/>
          <p:cNvSpPr/>
          <p:nvPr/>
        </p:nvSpPr>
        <p:spPr>
          <a:xfrm>
            <a:off x="1984248" y="5559552"/>
            <a:ext cx="457200" cy="45720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60" name="Image 2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5669280"/>
            <a:ext cx="237744" cy="237744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2569464" y="5486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MySQL 5.7 / 8.x</a:t>
            </a:r>
            <a:endParaRPr lang="zh-CN" sz="1400" dirty="0"/>
          </a:p>
        </p:txBody>
      </p:sp>
      <p:sp>
        <p:nvSpPr>
          <p:cNvPr id="62" name="Text 57"/>
          <p:cNvSpPr txBox="1"/>
          <p:nvPr/>
        </p:nvSpPr>
        <p:spPr>
          <a:xfrm>
            <a:off x="2569464" y="58155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27 张表 · 二级索引</a:t>
            </a:r>
            <a:endParaRPr lang="zh-CN" sz="1100" dirty="0"/>
          </a:p>
        </p:txBody>
      </p:sp>
      <p:sp>
        <p:nvSpPr>
          <p:cNvPr id="63" name="Shape 58"/>
          <p:cNvSpPr/>
          <p:nvPr/>
        </p:nvSpPr>
        <p:spPr>
          <a:xfrm>
            <a:off x="5129784" y="5394960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E7F2EF"/>
          </a:solidFill>
          <a:ln/>
        </p:spPr>
      </p:sp>
      <p:sp>
        <p:nvSpPr>
          <p:cNvPr id="64" name="Shape 59"/>
          <p:cNvSpPr/>
          <p:nvPr/>
        </p:nvSpPr>
        <p:spPr>
          <a:xfrm>
            <a:off x="5330952" y="5559552"/>
            <a:ext cx="457200" cy="45720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65" name="Image 3" descr="fol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5669280"/>
            <a:ext cx="237744" cy="237744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5916168" y="5486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文件存储</a:t>
            </a:r>
            <a:endParaRPr lang="zh-CN" sz="1400" dirty="0"/>
          </a:p>
        </p:txBody>
      </p:sp>
      <p:sp>
        <p:nvSpPr>
          <p:cNvPr id="67" name="Text 61"/>
          <p:cNvSpPr txBox="1"/>
          <p:nvPr/>
        </p:nvSpPr>
        <p:spPr>
          <a:xfrm>
            <a:off x="5916168" y="58155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MD5 去重命名 · 20MB 上限</a:t>
            </a:r>
            <a:endParaRPr lang="zh-CN" sz="1100" dirty="0"/>
          </a:p>
        </p:txBody>
      </p:sp>
      <p:sp>
        <p:nvSpPr>
          <p:cNvPr id="68" name="Shape 62"/>
          <p:cNvSpPr/>
          <p:nvPr/>
        </p:nvSpPr>
        <p:spPr>
          <a:xfrm>
            <a:off x="8476488" y="5394960"/>
            <a:ext cx="3163824" cy="786384"/>
          </a:xfrm>
          <a:prstGeom prst="roundRect">
            <a:avLst>
              <a:gd name="adj" fmla="val 9302"/>
            </a:avLst>
          </a:prstGeom>
          <a:solidFill>
            <a:srgbClr val="E7F2EF"/>
          </a:solidFill>
          <a:ln/>
        </p:spPr>
      </p:sp>
      <p:sp>
        <p:nvSpPr>
          <p:cNvPr id="69" name="Shape 63"/>
          <p:cNvSpPr/>
          <p:nvPr/>
        </p:nvSpPr>
        <p:spPr>
          <a:xfrm>
            <a:off x="8677656" y="5559552"/>
            <a:ext cx="457200" cy="45720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70" name="Image 4" descr="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384" y="5669280"/>
            <a:ext cx="237744" cy="237744"/>
          </a:xfrm>
          <a:prstGeom prst="rect">
            <a:avLst/>
          </a:prstGeom>
        </p:spPr>
      </p:pic>
      <p:sp>
        <p:nvSpPr>
          <p:cNvPr id="71" name="Text 64"/>
          <p:cNvSpPr txBox="1"/>
          <p:nvPr/>
        </p:nvSpPr>
        <p:spPr>
          <a:xfrm>
            <a:off x="9262872" y="5486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进程内缓存</a:t>
            </a:r>
            <a:endParaRPr lang="zh-CN" sz="1400" dirty="0"/>
          </a:p>
        </p:txBody>
      </p:sp>
      <p:sp>
        <p:nvSpPr>
          <p:cNvPr id="72" name="Text 65"/>
          <p:cNvSpPr txBox="1"/>
          <p:nvPr/>
        </p:nvSpPr>
        <p:spPr>
          <a:xfrm>
            <a:off x="9262872" y="58155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大屏 30 秒 · 推荐 60 秒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系统设计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技术选型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15184" cy="46634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6" name="Image 0" descr="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18145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Web 端</a:t>
            </a:r>
            <a:endParaRPr lang="zh-CN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50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Vue 3 + Vite 5</a:t>
            </a:r>
            <a:endParaRPr lang="zh-CN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组合式 API，开发热更新</a:t>
            </a:r>
            <a:endParaRPr lang="zh-CN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182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TypeScript</a:t>
            </a:r>
            <a:endParaRPr lang="zh-CN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静态类型检查</a:t>
            </a:r>
            <a:endParaRPr lang="zh-CN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3913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Element Plus</a:t>
            </a:r>
            <a:endParaRPr lang="zh-CN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组件库，按需引入</a:t>
            </a:r>
            <a:endParaRPr lang="zh-CN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Pinia + Vue Router</a:t>
            </a:r>
            <a:endParaRPr lang="zh-CN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状态管理与路由守卫</a:t>
            </a:r>
            <a:endParaRPr lang="zh-CN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5376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ECharts + vue-i18n</a:t>
            </a:r>
            <a:endParaRPr lang="zh-CN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5687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数据大屏与中英文</a:t>
            </a:r>
            <a:endParaRPr lang="zh-CN" sz="1150" dirty="0"/>
          </a:p>
        </p:txBody>
      </p:sp>
      <p:sp>
        <p:nvSpPr>
          <p:cNvPr id="18" name="Shape 15"/>
          <p:cNvSpPr/>
          <p:nvPr/>
        </p:nvSpPr>
        <p:spPr>
          <a:xfrm>
            <a:off x="3374136" y="1481328"/>
            <a:ext cx="2615184" cy="46634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02736" y="1691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20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1814535"/>
            <a:ext cx="266273" cy="26627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242816" y="1691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后端服务</a:t>
            </a:r>
            <a:endParaRPr lang="zh-CN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630168" y="2450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Spring Boot 2.7.18</a:t>
            </a:r>
            <a:endParaRPr lang="zh-CN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630168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Java 8 应用框架</a:t>
            </a:r>
            <a:endParaRPr lang="zh-CN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3630168" y="3182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MyBatis + PageHelper</a:t>
            </a:r>
            <a:endParaRPr lang="zh-CN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630168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SQL 映射与分页</a:t>
            </a:r>
            <a:endParaRPr lang="zh-CN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3630168" y="3913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JWT + BCrypt</a:t>
            </a:r>
            <a:endParaRPr lang="zh-CN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30168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令牌认证与密码哈希</a:t>
            </a:r>
            <a:endParaRPr lang="zh-CN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3630168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Spring AOP</a:t>
            </a:r>
            <a:endParaRPr lang="zh-CN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630168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权限切面与操作日志</a:t>
            </a:r>
            <a:endParaRPr lang="zh-CN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3630168" y="5376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WebSocket + EasyExcel</a:t>
            </a:r>
            <a:endParaRPr lang="zh-CN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3630168" y="5687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实时推送与 Excel 导入导出</a:t>
            </a:r>
            <a:endParaRPr lang="zh-CN" sz="1150" dirty="0"/>
          </a:p>
        </p:txBody>
      </p:sp>
      <p:sp>
        <p:nvSpPr>
          <p:cNvPr id="32" name="Shape 28"/>
          <p:cNvSpPr/>
          <p:nvPr/>
        </p:nvSpPr>
        <p:spPr>
          <a:xfrm>
            <a:off x="6199632" y="1481328"/>
            <a:ext cx="2615184" cy="46634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428232" y="1691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34" name="Image 2" descr="smart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27" y="1814535"/>
            <a:ext cx="266273" cy="266273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068312" y="1691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微信小程序端</a:t>
            </a:r>
            <a:endParaRPr lang="zh-CN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455664" y="2450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uni-app（Vue 3）</a:t>
            </a:r>
            <a:endParaRPr lang="zh-CN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455664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一套代码编译为微信小程序</a:t>
            </a:r>
            <a:endParaRPr lang="zh-CN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6455664" y="3182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Pinia</a:t>
            </a:r>
            <a:endParaRPr lang="zh-CN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455664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状态管理与本地持久化</a:t>
            </a:r>
            <a:endParaRPr lang="zh-CN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6455664" y="3913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自研轻量 i18n</a:t>
            </a:r>
            <a:endParaRPr lang="zh-CN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455664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与 Web 端共用词条</a:t>
            </a:r>
            <a:endParaRPr lang="zh-CN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6455664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分包 + 预下载</a:t>
            </a:r>
            <a:endParaRPr lang="zh-CN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6455664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课程空间、后台按需加载</a:t>
            </a:r>
            <a:endParaRPr lang="zh-CN" sz="1150" dirty="0"/>
          </a:p>
        </p:txBody>
      </p:sp>
      <p:sp>
        <p:nvSpPr>
          <p:cNvPr id="44" name="Text 39"/>
          <p:cNvSpPr txBox="1"/>
          <p:nvPr/>
        </p:nvSpPr>
        <p:spPr>
          <a:xfrm>
            <a:off x="6455664" y="5376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WebSocket</a:t>
            </a:r>
            <a:endParaRPr lang="zh-CN" sz="1400" dirty="0"/>
          </a:p>
        </p:txBody>
      </p:sp>
      <p:sp>
        <p:nvSpPr>
          <p:cNvPr id="45" name="Text 40"/>
          <p:cNvSpPr txBox="1"/>
          <p:nvPr/>
        </p:nvSpPr>
        <p:spPr>
          <a:xfrm>
            <a:off x="6455664" y="5687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消息角标与课程事件</a:t>
            </a:r>
            <a:endParaRPr lang="zh-CN" sz="1150" dirty="0"/>
          </a:p>
        </p:txBody>
      </p:sp>
      <p:sp>
        <p:nvSpPr>
          <p:cNvPr id="46" name="Shape 41"/>
          <p:cNvSpPr/>
          <p:nvPr/>
        </p:nvSpPr>
        <p:spPr>
          <a:xfrm>
            <a:off x="9025128" y="1481328"/>
            <a:ext cx="2615184" cy="46634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0C2A22">
                <a:alpha val="7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9253728" y="1691640"/>
            <a:ext cx="512064" cy="51206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48" name="Image 3" descr="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623" y="1814535"/>
            <a:ext cx="266273" cy="266273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9893808" y="16916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数据、部署与测试</a:t>
            </a:r>
            <a:endParaRPr lang="zh-CN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9281160" y="2450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MySQL 5.7 / 8.x</a:t>
            </a:r>
            <a:endParaRPr lang="zh-CN" sz="1400" dirty="0"/>
          </a:p>
        </p:txBody>
      </p:sp>
      <p:sp>
        <p:nvSpPr>
          <p:cNvPr id="51" name="Text 45"/>
          <p:cNvSpPr txBox="1"/>
          <p:nvPr/>
        </p:nvSpPr>
        <p:spPr>
          <a:xfrm>
            <a:off x="92811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关系型数据库，27 张表</a:t>
            </a:r>
            <a:endParaRPr lang="zh-CN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9281160" y="3182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Docker Compose</a:t>
            </a:r>
            <a:endParaRPr lang="zh-CN" sz="1400" dirty="0"/>
          </a:p>
        </p:txBody>
      </p:sp>
      <p:sp>
        <p:nvSpPr>
          <p:cNvPr id="53" name="Text 47"/>
          <p:cNvSpPr txBox="1"/>
          <p:nvPr/>
        </p:nvSpPr>
        <p:spPr>
          <a:xfrm>
            <a:off x="928116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三容器一键部署</a:t>
            </a:r>
            <a:endParaRPr lang="zh-CN" sz="1150" dirty="0"/>
          </a:p>
        </p:txBody>
      </p:sp>
      <p:sp>
        <p:nvSpPr>
          <p:cNvPr id="54" name="Text 48"/>
          <p:cNvSpPr txBox="1"/>
          <p:nvPr/>
        </p:nvSpPr>
        <p:spPr>
          <a:xfrm>
            <a:off x="9281160" y="3913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nginx</a:t>
            </a:r>
            <a:endParaRPr lang="zh-CN" sz="1400" dirty="0"/>
          </a:p>
        </p:txBody>
      </p:sp>
      <p:sp>
        <p:nvSpPr>
          <p:cNvPr id="55" name="Text 49"/>
          <p:cNvSpPr txBox="1"/>
          <p:nvPr/>
        </p:nvSpPr>
        <p:spPr>
          <a:xfrm>
            <a:off x="928116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静态托管与反向代理</a:t>
            </a:r>
            <a:endParaRPr lang="zh-CN" sz="1150" dirty="0"/>
          </a:p>
        </p:txBody>
      </p:sp>
      <p:sp>
        <p:nvSpPr>
          <p:cNvPr id="56" name="Text 50"/>
          <p:cNvSpPr txBox="1"/>
          <p:nvPr/>
        </p:nvSpPr>
        <p:spPr>
          <a:xfrm>
            <a:off x="928116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JUnit 5 + Mockito</a:t>
            </a:r>
            <a:endParaRPr lang="zh-CN" sz="1400" dirty="0"/>
          </a:p>
        </p:txBody>
      </p:sp>
      <p:sp>
        <p:nvSpPr>
          <p:cNvPr id="57" name="Text 51"/>
          <p:cNvSpPr txBox="1"/>
          <p:nvPr/>
        </p:nvSpPr>
        <p:spPr>
          <a:xfrm>
            <a:off x="9281160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后端单元测试 233 个</a:t>
            </a:r>
            <a:endParaRPr lang="zh-CN" sz="1150" dirty="0"/>
          </a:p>
        </p:txBody>
      </p:sp>
      <p:sp>
        <p:nvSpPr>
          <p:cNvPr id="58" name="Text 52"/>
          <p:cNvSpPr txBox="1"/>
          <p:nvPr/>
        </p:nvSpPr>
        <p:spPr>
          <a:xfrm>
            <a:off x="9281160" y="5376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Vitest</a:t>
            </a:r>
            <a:endParaRPr lang="zh-CN" sz="1400" dirty="0"/>
          </a:p>
        </p:txBody>
      </p:sp>
      <p:sp>
        <p:nvSpPr>
          <p:cNvPr id="59" name="Text 53"/>
          <p:cNvSpPr txBox="1"/>
          <p:nvPr/>
        </p:nvSpPr>
        <p:spPr>
          <a:xfrm>
            <a:off x="9281160" y="5687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Web 81 个 · 小程序 188 个</a:t>
            </a:r>
            <a:endParaRPr lang="zh-CN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系统设计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功能模块设计：以「课程空间」为中心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顶部导航只有四个入口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2F8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420624" cy="42062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7" name="Image 0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2167494"/>
            <a:ext cx="218724" cy="2187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93852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C624F"/>
                </a:solidFill>
              </a:rPr>
              <a:t>首页</a:t>
            </a:r>
            <a:endParaRPr lang="zh-CN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9385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分角色工作台：下一节课、待办、考试</a:t>
            </a:r>
            <a:endParaRPr lang="zh-CN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61488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2F8F6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889504"/>
            <a:ext cx="420624" cy="42062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12" name="Image 1" descr="book-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299045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61872" y="276148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C624F"/>
                </a:solidFill>
              </a:rPr>
              <a:t>课程</a:t>
            </a:r>
            <a:endParaRPr lang="zh-CN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86000" y="276148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我的课程 → 课程空间；课程广场；成绩单</a:t>
            </a:r>
            <a:endParaRPr lang="zh-CN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84448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2F8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712464"/>
            <a:ext cx="420624" cy="42062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17" name="Image 2" descr="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3813414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61872" y="358444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C624F"/>
                </a:solidFill>
              </a:rPr>
              <a:t>日程</a:t>
            </a:r>
            <a:endParaRPr lang="zh-CN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2286000" y="35844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周课表与月历；在月历上选日期请假</a:t>
            </a:r>
            <a:endParaRPr lang="zh-CN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407408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2F8F6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535424"/>
            <a:ext cx="420624" cy="420624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22" name="Image 3" descr="mess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2" y="4636374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61872" y="440740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C624F"/>
                </a:solidFill>
              </a:rPr>
              <a:t>消息</a:t>
            </a:r>
            <a:endParaRPr lang="zh-CN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2286000" y="440740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站内消息（离线可回看）与通知公告</a:t>
            </a:r>
            <a:endParaRPr lang="zh-CN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230368"/>
            <a:ext cx="4663440" cy="676656"/>
          </a:xfrm>
          <a:prstGeom prst="roundRect">
            <a:avLst>
              <a:gd name="adj" fmla="val 10811"/>
            </a:avLst>
          </a:prstGeom>
          <a:solidFill>
            <a:srgbClr val="F0F3F2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358384"/>
            <a:ext cx="420624" cy="420624"/>
          </a:xfrm>
          <a:prstGeom prst="ellipse">
            <a:avLst/>
          </a:prstGeom>
          <a:solidFill>
            <a:srgbClr val="5F6B66"/>
          </a:solidFill>
          <a:ln/>
        </p:spPr>
      </p:sp>
      <p:pic>
        <p:nvPicPr>
          <p:cNvPr id="27" name="Image 4" descr="gr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2" y="5459334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61872" y="5230368"/>
            <a:ext cx="1051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教务后台</a:t>
            </a:r>
            <a:endParaRPr lang="zh-CN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2286000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管理员：开课排课、组织架构、人员审批</a:t>
            </a:r>
            <a:endParaRPr lang="zh-CN" sz="1200" dirty="0"/>
          </a:p>
        </p:txBody>
      </p:sp>
      <p:sp>
        <p:nvSpPr>
          <p:cNvPr id="30" name="Shape 23"/>
          <p:cNvSpPr/>
          <p:nvPr/>
        </p:nvSpPr>
        <p:spPr>
          <a:xfrm>
            <a:off x="5532120" y="1481328"/>
            <a:ext cx="6108192" cy="4645152"/>
          </a:xfrm>
          <a:prstGeom prst="roundRect">
            <a:avLst>
              <a:gd name="adj" fmla="val 2756"/>
            </a:avLst>
          </a:prstGeom>
          <a:solidFill>
            <a:srgbClr val="0C2A2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852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课程空间（每门课一个）</a:t>
            </a:r>
            <a:endParaRPr lang="zh-CN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5852160" y="2121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A9D8C8"/>
                </a:solidFill>
              </a:rPr>
              <a:t>老师和学生围绕一门课的所有事情，都在这七个分页里完成</a:t>
            </a:r>
            <a:endParaRPr lang="zh-CN" sz="1200" dirty="0"/>
          </a:p>
        </p:txBody>
      </p:sp>
      <p:sp>
        <p:nvSpPr>
          <p:cNvPr id="33" name="Shape 26"/>
          <p:cNvSpPr/>
          <p:nvPr/>
        </p:nvSpPr>
        <p:spPr>
          <a:xfrm>
            <a:off x="5852160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852160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概览</a:t>
            </a:r>
            <a:endParaRPr lang="zh-CN" sz="1300" dirty="0"/>
          </a:p>
        </p:txBody>
      </p:sp>
      <p:sp>
        <p:nvSpPr>
          <p:cNvPr id="35" name="Shape 28"/>
          <p:cNvSpPr/>
          <p:nvPr/>
        </p:nvSpPr>
        <p:spPr>
          <a:xfrm>
            <a:off x="6647688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0F7B63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647688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签到</a:t>
            </a:r>
            <a:endParaRPr lang="zh-CN" sz="1300" dirty="0"/>
          </a:p>
        </p:txBody>
      </p:sp>
      <p:sp>
        <p:nvSpPr>
          <p:cNvPr id="37" name="Shape 30"/>
          <p:cNvSpPr/>
          <p:nvPr/>
        </p:nvSpPr>
        <p:spPr>
          <a:xfrm>
            <a:off x="7443216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7443216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作业</a:t>
            </a:r>
            <a:endParaRPr lang="zh-CN" sz="1300" dirty="0"/>
          </a:p>
        </p:txBody>
      </p:sp>
      <p:sp>
        <p:nvSpPr>
          <p:cNvPr id="39" name="Shape 32"/>
          <p:cNvSpPr/>
          <p:nvPr/>
        </p:nvSpPr>
        <p:spPr>
          <a:xfrm>
            <a:off x="8238744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8238744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成绩</a:t>
            </a:r>
            <a:endParaRPr lang="zh-CN" sz="1300" dirty="0"/>
          </a:p>
        </p:txBody>
      </p:sp>
      <p:sp>
        <p:nvSpPr>
          <p:cNvPr id="41" name="Shape 34"/>
          <p:cNvSpPr/>
          <p:nvPr/>
        </p:nvSpPr>
        <p:spPr>
          <a:xfrm>
            <a:off x="9034272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9034272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评价</a:t>
            </a:r>
            <a:endParaRPr lang="zh-CN" sz="1300" dirty="0"/>
          </a:p>
        </p:txBody>
      </p:sp>
      <p:sp>
        <p:nvSpPr>
          <p:cNvPr id="43" name="Shape 36"/>
          <p:cNvSpPr/>
          <p:nvPr/>
        </p:nvSpPr>
        <p:spPr>
          <a:xfrm>
            <a:off x="9829800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829800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资料</a:t>
            </a:r>
            <a:endParaRPr lang="zh-CN" sz="1300" dirty="0"/>
          </a:p>
        </p:txBody>
      </p:sp>
      <p:sp>
        <p:nvSpPr>
          <p:cNvPr id="45" name="Shape 38"/>
          <p:cNvSpPr/>
          <p:nvPr/>
        </p:nvSpPr>
        <p:spPr>
          <a:xfrm>
            <a:off x="10625328" y="2578608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15392F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10625328" y="257860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成员</a:t>
            </a:r>
            <a:endParaRPr lang="zh-CN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5852160" y="3246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3FB08F"/>
                </a:solidFill>
              </a:rPr>
              <a:t>教师</a:t>
            </a:r>
            <a:endParaRPr lang="zh-CN" sz="1500" dirty="0"/>
          </a:p>
        </p:txBody>
      </p:sp>
      <p:sp>
        <p:nvSpPr>
          <p:cNvPr id="48" name="Text 41"/>
          <p:cNvSpPr txBox="1"/>
          <p:nvPr/>
        </p:nvSpPr>
        <p:spPr>
          <a:xfrm>
            <a:off x="5852160" y="36393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发起签到、逐个改考勤</a:t>
            </a:r>
            <a:endParaRPr lang="zh-CN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5852160" y="40416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布置作业、逐份批改</a:t>
            </a:r>
            <a:endParaRPr lang="zh-CN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5852160" y="44439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成绩册录分、发布总评</a:t>
            </a:r>
            <a:endParaRPr lang="zh-CN" sz="1300" dirty="0"/>
          </a:p>
        </p:txBody>
      </p:sp>
      <p:sp>
        <p:nvSpPr>
          <p:cNvPr id="51" name="Text 44"/>
          <p:cNvSpPr txBox="1"/>
          <p:nvPr/>
        </p:nvSpPr>
        <p:spPr>
          <a:xfrm>
            <a:off x="5852160" y="48463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看匿名评价、传资料、发公告</a:t>
            </a:r>
            <a:endParaRPr lang="zh-CN" sz="1300" dirty="0"/>
          </a:p>
        </p:txBody>
      </p:sp>
      <p:sp>
        <p:nvSpPr>
          <p:cNvPr id="52" name="Text 45"/>
          <p:cNvSpPr txBox="1"/>
          <p:nvPr/>
        </p:nvSpPr>
        <p:spPr>
          <a:xfrm>
            <a:off x="8668512" y="3246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3FB08F"/>
                </a:solidFill>
              </a:rPr>
              <a:t>学生</a:t>
            </a:r>
            <a:endParaRPr lang="zh-CN" sz="1500" dirty="0"/>
          </a:p>
        </p:txBody>
      </p:sp>
      <p:sp>
        <p:nvSpPr>
          <p:cNvPr id="53" name="Text 46"/>
          <p:cNvSpPr txBox="1"/>
          <p:nvPr/>
        </p:nvSpPr>
        <p:spPr>
          <a:xfrm>
            <a:off x="8668512" y="36393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输入 4 位签到码签到</a:t>
            </a:r>
            <a:endParaRPr lang="zh-CN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8668512" y="40416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交作业、看批改与评语</a:t>
            </a:r>
            <a:endParaRPr lang="zh-CN" sz="1300" dirty="0"/>
          </a:p>
        </p:txBody>
      </p:sp>
      <p:sp>
        <p:nvSpPr>
          <p:cNvPr id="55" name="Text 48"/>
          <p:cNvSpPr txBox="1"/>
          <p:nvPr/>
        </p:nvSpPr>
        <p:spPr>
          <a:xfrm>
            <a:off x="8668512" y="44439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成绩发布后看四项明细</a:t>
            </a:r>
            <a:endParaRPr lang="zh-CN" sz="1300" dirty="0"/>
          </a:p>
        </p:txBody>
      </p:sp>
      <p:sp>
        <p:nvSpPr>
          <p:cNvPr id="56" name="Text 49"/>
          <p:cNvSpPr txBox="1"/>
          <p:nvPr/>
        </p:nvSpPr>
        <p:spPr>
          <a:xfrm>
            <a:off x="8668512" y="48463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3FB08F"/>
                </a:solidFill>
              </a:rPr>
              <a:t>·  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</a:rPr>
              <a:t>结课后五维打分评价</a:t>
            </a:r>
            <a:endParaRPr lang="zh-CN" sz="1300" dirty="0"/>
          </a:p>
        </p:txBody>
      </p:sp>
      <p:sp>
        <p:nvSpPr>
          <p:cNvPr id="57" name="Shape 50"/>
          <p:cNvSpPr/>
          <p:nvPr/>
        </p:nvSpPr>
        <p:spPr>
          <a:xfrm>
            <a:off x="5852160" y="537667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15392F"/>
          </a:solidFill>
          <a:ln/>
        </p:spPr>
      </p:sp>
      <p:sp>
        <p:nvSpPr>
          <p:cNvPr id="58" name="Shape 51"/>
          <p:cNvSpPr/>
          <p:nvPr/>
        </p:nvSpPr>
        <p:spPr>
          <a:xfrm>
            <a:off x="5989320" y="5458968"/>
            <a:ext cx="347472" cy="347472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59" name="Image 5" descr="radi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713" y="5542361"/>
            <a:ext cx="180685" cy="180685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6473952" y="537667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D6EBE3"/>
                </a:solidFill>
              </a:rPr>
              <a:t>有人签到、交作业、发公告时，打开着的课程空间自动刷新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03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系统设计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数据库设计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学院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1847088" y="1837944"/>
            <a:ext cx="53035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847088" y="15727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1 : N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60020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60020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专业</a:t>
            </a:r>
            <a:endParaRPr lang="zh-CN" sz="1400" dirty="0"/>
          </a:p>
        </p:txBody>
      </p:sp>
      <p:sp>
        <p:nvSpPr>
          <p:cNvPr id="10" name="Shape 8"/>
          <p:cNvSpPr/>
          <p:nvPr/>
        </p:nvSpPr>
        <p:spPr>
          <a:xfrm>
            <a:off x="3675888" y="1837944"/>
            <a:ext cx="53035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675888" y="15727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1 : N</a:t>
            </a:r>
            <a:endParaRPr lang="zh-CN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60020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60020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班级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5504688" y="1837944"/>
            <a:ext cx="53035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504688" y="15727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1 : N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60020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学生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教师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1847088" y="3026664"/>
            <a:ext cx="53035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847088" y="2761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任教</a:t>
            </a:r>
            <a:endParaRPr lang="zh-CN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278892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0C2A22"/>
          </a:solidFill>
          <a:ln w="15875">
            <a:solidFill>
              <a:srgbClr val="0C2A2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7744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课程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4206240" y="2788920"/>
            <a:ext cx="1298448" cy="475488"/>
          </a:xfrm>
          <a:prstGeom prst="roundRect">
            <a:avLst>
              <a:gd name="adj" fmla="val 15385"/>
            </a:avLst>
          </a:prstGeom>
          <a:solidFill>
            <a:srgbClr val="E7F2E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选课</a:t>
            </a:r>
            <a:endParaRPr lang="zh-CN" sz="1400" dirty="0"/>
          </a:p>
        </p:txBody>
      </p:sp>
      <p:sp>
        <p:nvSpPr>
          <p:cNvPr id="26" name="Shape 24"/>
          <p:cNvSpPr/>
          <p:nvPr/>
        </p:nvSpPr>
        <p:spPr>
          <a:xfrm flipH="1">
            <a:off x="3675888" y="3026664"/>
            <a:ext cx="53035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675888" y="2761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被选</a:t>
            </a:r>
            <a:endParaRPr lang="zh-CN" sz="1000" dirty="0"/>
          </a:p>
        </p:txBody>
      </p:sp>
      <p:sp>
        <p:nvSpPr>
          <p:cNvPr id="28" name="Shape 26"/>
          <p:cNvSpPr/>
          <p:nvPr/>
        </p:nvSpPr>
        <p:spPr>
          <a:xfrm>
            <a:off x="6684264" y="2075688"/>
            <a:ext cx="0" cy="950976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5504688" y="3026664"/>
            <a:ext cx="1179576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760720" y="2761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F6B66"/>
                </a:solidFill>
              </a:rPr>
              <a:t>选修</a:t>
            </a:r>
            <a:endParaRPr lang="zh-CN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0F7B63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签到场次</a:t>
            </a:r>
            <a:endParaRPr lang="zh-CN" sz="1200" dirty="0"/>
          </a:p>
        </p:txBody>
      </p:sp>
      <p:sp>
        <p:nvSpPr>
          <p:cNvPr id="33" name="Shape 31"/>
          <p:cNvSpPr/>
          <p:nvPr/>
        </p:nvSpPr>
        <p:spPr>
          <a:xfrm>
            <a:off x="1435608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0F7B63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35608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作业任务</a:t>
            </a:r>
            <a:endParaRPr lang="zh-CN" sz="1200" dirty="0"/>
          </a:p>
        </p:txBody>
      </p:sp>
      <p:sp>
        <p:nvSpPr>
          <p:cNvPr id="35" name="Shape 33"/>
          <p:cNvSpPr/>
          <p:nvPr/>
        </p:nvSpPr>
        <p:spPr>
          <a:xfrm>
            <a:off x="2322576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0F7B63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22576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课程评价</a:t>
            </a:r>
            <a:endParaRPr lang="zh-CN" sz="1200" dirty="0"/>
          </a:p>
        </p:txBody>
      </p:sp>
      <p:sp>
        <p:nvSpPr>
          <p:cNvPr id="37" name="Shape 35"/>
          <p:cNvSpPr/>
          <p:nvPr/>
        </p:nvSpPr>
        <p:spPr>
          <a:xfrm>
            <a:off x="3209544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0F7B63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9544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课程资料</a:t>
            </a:r>
            <a:endParaRPr lang="zh-CN" sz="1200" dirty="0"/>
          </a:p>
        </p:txBody>
      </p:sp>
      <p:sp>
        <p:nvSpPr>
          <p:cNvPr id="39" name="Shape 37"/>
          <p:cNvSpPr/>
          <p:nvPr/>
        </p:nvSpPr>
        <p:spPr>
          <a:xfrm>
            <a:off x="4096512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96512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17211D"/>
                </a:solidFill>
              </a:rPr>
              <a:t>课程公告</a:t>
            </a:r>
            <a:endParaRPr lang="zh-CN" sz="1200" dirty="0"/>
          </a:p>
        </p:txBody>
      </p:sp>
      <p:sp>
        <p:nvSpPr>
          <p:cNvPr id="41" name="Shape 39"/>
          <p:cNvSpPr/>
          <p:nvPr/>
        </p:nvSpPr>
        <p:spPr>
          <a:xfrm>
            <a:off x="5120640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0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17211D"/>
                </a:solidFill>
              </a:rPr>
              <a:t>成绩册</a:t>
            </a:r>
            <a:endParaRPr lang="zh-CN" sz="1200" dirty="0"/>
          </a:p>
        </p:txBody>
      </p:sp>
      <p:sp>
        <p:nvSpPr>
          <p:cNvPr id="43" name="Shape 41"/>
          <p:cNvSpPr/>
          <p:nvPr/>
        </p:nvSpPr>
        <p:spPr>
          <a:xfrm>
            <a:off x="6007608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07608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17211D"/>
                </a:solidFill>
              </a:rPr>
              <a:t>考勤</a:t>
            </a:r>
            <a:endParaRPr lang="zh-CN" sz="1200" dirty="0"/>
          </a:p>
        </p:txBody>
      </p:sp>
      <p:sp>
        <p:nvSpPr>
          <p:cNvPr id="45" name="Shape 43"/>
          <p:cNvSpPr/>
          <p:nvPr/>
        </p:nvSpPr>
        <p:spPr>
          <a:xfrm>
            <a:off x="6894576" y="4343400"/>
            <a:ext cx="80467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F7B6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94576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b="1" dirty="0">
                <a:solidFill>
                  <a:srgbClr val="17211D"/>
                </a:solidFill>
              </a:rPr>
              <a:t>作业提交</a:t>
            </a:r>
            <a:endParaRPr lang="zh-CN" sz="1200" dirty="0"/>
          </a:p>
        </p:txBody>
      </p:sp>
      <p:sp>
        <p:nvSpPr>
          <p:cNvPr id="47" name="Shape 45"/>
          <p:cNvSpPr/>
          <p:nvPr/>
        </p:nvSpPr>
        <p:spPr>
          <a:xfrm>
            <a:off x="3026664" y="3264408"/>
            <a:ext cx="0" cy="54864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0976" y="3813048"/>
            <a:ext cx="3547872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0976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837944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724912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611880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498848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855464" y="3264408"/>
            <a:ext cx="0" cy="54864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55464" y="3813048"/>
            <a:ext cx="2441448" cy="0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22976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409944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296912" y="3813048"/>
            <a:ext cx="0" cy="530352"/>
          </a:xfrm>
          <a:prstGeom prst="line">
            <a:avLst/>
          </a:prstGeom>
          <a:noFill/>
          <a:ln w="19050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548640" y="48920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0F7B63"/>
                </a:solidFill>
              </a:rPr>
              <a:t>课程空间（挂在课程下）</a:t>
            </a:r>
            <a:endParaRPr lang="zh-CN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120640" y="4892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0F7B63"/>
                </a:solidFill>
              </a:rPr>
              <a:t>每名学生的记录（挂在选课下）</a:t>
            </a:r>
            <a:endParaRPr lang="zh-CN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5394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F7B63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41248" y="53583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改版新增的表（另有站内消息表）；图中为逻辑关系，不建物理外键；另有管理员、请假、通知、考试安排、教室等表</a:t>
            </a:r>
            <a:endParaRPr lang="zh-CN" sz="1150" dirty="0"/>
          </a:p>
        </p:txBody>
      </p:sp>
      <p:sp>
        <p:nvSpPr>
          <p:cNvPr id="63" name="Shape 61"/>
          <p:cNvSpPr/>
          <p:nvPr/>
        </p:nvSpPr>
        <p:spPr>
          <a:xfrm>
            <a:off x="8001000" y="1481328"/>
            <a:ext cx="3639312" cy="4645152"/>
          </a:xfrm>
          <a:prstGeom prst="roundRect">
            <a:avLst>
              <a:gd name="adj" fmla="val 3015"/>
            </a:avLst>
          </a:prstGeom>
          <a:solidFill>
            <a:srgbClr val="F2F8F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275320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17211D"/>
                </a:solidFill>
              </a:rPr>
              <a:t>设计要点</a:t>
            </a:r>
            <a:endParaRPr lang="zh-CN" sz="1700" dirty="0"/>
          </a:p>
        </p:txBody>
      </p:sp>
      <p:sp>
        <p:nvSpPr>
          <p:cNvPr id="65" name="Text 63"/>
          <p:cNvSpPr txBox="1"/>
          <p:nvPr/>
        </p:nvSpPr>
        <p:spPr>
          <a:xfrm>
            <a:off x="827532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F7B63"/>
                </a:solidFill>
              </a:rPr>
              <a:t>1</a:t>
            </a:r>
            <a:endParaRPr lang="zh-CN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8577072" y="221284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27 张表：16 张核心业务表 + 5 张课程空间表 + 6 张系统表（RBAC 3、日志 2、学期参数 1）</a:t>
            </a:r>
            <a:endParaRPr lang="zh-CN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F7B63"/>
                </a:solidFill>
              </a:rPr>
              <a:t>2</a:t>
            </a:r>
            <a:endParaRPr lang="zh-CN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8577072" y="2980944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以「课程」为中心：签到、作业、评价、资料、公告挂在课程下，选课把学生和课程连起来</a:t>
            </a:r>
            <a:endParaRPr lang="zh-CN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82753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F7B63"/>
                </a:solidFill>
              </a:rPr>
              <a:t>3</a:t>
            </a:r>
            <a:endParaRPr lang="zh-CN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8577072" y="374904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成绩册：成绩表存四项分数与发布状态，发布后学生才可见，及格才计学分</a:t>
            </a:r>
            <a:endParaRPr lang="zh-CN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827532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F7B63"/>
                </a:solidFill>
              </a:rPr>
              <a:t>4</a:t>
            </a:r>
            <a:endParaRPr lang="zh-CN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8577072" y="4517136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逻辑外键 + 删除保护：删除前由业务层检查（错误码 5029–5034）</a:t>
            </a:r>
            <a:endParaRPr lang="zh-CN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27532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0F7B63"/>
                </a:solidFill>
              </a:rPr>
              <a:t>5</a:t>
            </a:r>
            <a:endParaRPr lang="zh-CN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8577072" y="5285232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联合 / 唯一索引；老库由 SchemaMigration 在启动时幂等补齐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关键技术与实现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安全认证与 RBAC 权限控制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登录认证流程</a:t>
            </a:r>
            <a:endParaRPr lang="zh-CN" sz="1600" dirty="0"/>
          </a:p>
        </p:txBody>
      </p:sp>
      <p:sp>
        <p:nvSpPr>
          <p:cNvPr id="5" name="Shape 3"/>
          <p:cNvSpPr/>
          <p:nvPr/>
        </p:nvSpPr>
        <p:spPr>
          <a:xfrm>
            <a:off x="768096" y="2148840"/>
            <a:ext cx="0" cy="3291840"/>
          </a:xfrm>
          <a:prstGeom prst="line">
            <a:avLst/>
          </a:prstGeom>
          <a:noFill/>
          <a:ln w="25400">
            <a:solidFill>
              <a:srgbClr val="CF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438912" cy="438912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1</a:t>
            </a:r>
            <a:endParaRPr lang="zh-CN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图形验证码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494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验证码与会话绑定，校验不区分大小写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438912" cy="438912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2</a:t>
            </a:r>
            <a:endParaRPr lang="zh-CN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登录保护</a:t>
            </a:r>
            <a:endParaRPr lang="zh-CN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723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连续失败 5 次锁定 10 分钟，成功与失败都写登录日志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438912" cy="438912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3</a:t>
            </a:r>
            <a:endParaRPr lang="zh-CN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566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按账号识别身份</a:t>
            </a:r>
            <a:endParaRPr lang="zh-CN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895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不用选身份；同名同密码时返回 5012，再选一次</a:t>
            </a:r>
            <a:endParaRPr lang="zh-CN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07408"/>
            <a:ext cx="438912" cy="438912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407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4</a:t>
            </a:r>
            <a:endParaRPr lang="zh-CN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BCrypt 密码校验</a:t>
            </a:r>
            <a:endParaRPr lang="zh-CN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718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哈希比对，历史明文密码首次登录自动升级</a:t>
            </a:r>
            <a:endParaRPr lang="zh-CN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438912" cy="438912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230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5</a:t>
            </a:r>
            <a:endParaRPr lang="zh-CN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212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签发 JWT</a:t>
            </a:r>
            <a:endParaRPr lang="zh-CN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55412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5F6B66"/>
                </a:solidFill>
              </a:rPr>
              <a:t>默认 2 小时有效；之后每个请求由拦截器校验令牌</a:t>
            </a:r>
            <a:endParaRPr lang="zh-CN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RBAC 四层权限控制</a:t>
            </a:r>
            <a:endParaRPr lang="zh-CN" sz="1600" dirty="0"/>
          </a:p>
        </p:txBody>
      </p:sp>
      <p:sp>
        <p:nvSpPr>
          <p:cNvPr id="27" name="Shape 25"/>
          <p:cNvSpPr/>
          <p:nvPr/>
        </p:nvSpPr>
        <p:spPr>
          <a:xfrm>
            <a:off x="5989320" y="1938528"/>
            <a:ext cx="565099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066544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0C2A2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26480" y="20665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路由层</a:t>
            </a:r>
            <a:endParaRPr lang="zh-CN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19385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meta.roles 角色白名单 + 权限码守卫，越权跳转 403 页</a:t>
            </a:r>
            <a:endParaRPr lang="zh-CN" sz="1250" dirty="0"/>
          </a:p>
        </p:txBody>
      </p:sp>
      <p:sp>
        <p:nvSpPr>
          <p:cNvPr id="31" name="Shape 29"/>
          <p:cNvSpPr/>
          <p:nvPr/>
        </p:nvSpPr>
        <p:spPr>
          <a:xfrm>
            <a:off x="5989320" y="2724912"/>
            <a:ext cx="565099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52928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0C2A2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26480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导航层</a:t>
            </a:r>
            <a:endParaRPr lang="zh-CN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96912" y="27249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顶部导航与教务后台侧栏按角色、权限码裁剪</a:t>
            </a:r>
            <a:endParaRPr lang="zh-CN" sz="1250" dirty="0"/>
          </a:p>
        </p:txBody>
      </p:sp>
      <p:sp>
        <p:nvSpPr>
          <p:cNvPr id="35" name="Shape 33"/>
          <p:cNvSpPr/>
          <p:nvPr/>
        </p:nvSpPr>
        <p:spPr>
          <a:xfrm>
            <a:off x="5989320" y="3511296"/>
            <a:ext cx="565099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63931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0C2A2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26480" y="36393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按钮层</a:t>
            </a:r>
            <a:endParaRPr lang="zh-CN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296912" y="35112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v-permission 指令控制新增、删除、导出等按钮</a:t>
            </a:r>
            <a:endParaRPr lang="zh-CN" sz="1250" dirty="0"/>
          </a:p>
        </p:txBody>
      </p:sp>
      <p:sp>
        <p:nvSpPr>
          <p:cNvPr id="39" name="Shape 37"/>
          <p:cNvSpPr/>
          <p:nvPr/>
        </p:nvSpPr>
        <p:spPr>
          <a:xfrm>
            <a:off x="5989320" y="4297680"/>
            <a:ext cx="565099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4425696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0F7B6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26480" y="44256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接口层</a:t>
            </a:r>
            <a:endParaRPr lang="zh-CN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296912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@RequirePermission + AOP 切面逐请求判定，绕过前端也无法越权</a:t>
            </a:r>
            <a:endParaRPr lang="zh-CN" sz="1250" dirty="0"/>
          </a:p>
        </p:txBody>
      </p:sp>
      <p:sp>
        <p:nvSpPr>
          <p:cNvPr id="43" name="Shape 41"/>
          <p:cNvSpPr/>
          <p:nvPr/>
        </p:nvSpPr>
        <p:spPr>
          <a:xfrm>
            <a:off x="5989320" y="5175504"/>
            <a:ext cx="5650992" cy="950976"/>
          </a:xfrm>
          <a:prstGeom prst="roundRect">
            <a:avLst>
              <a:gd name="adj" fmla="val 9615"/>
            </a:avLst>
          </a:prstGeom>
          <a:solidFill>
            <a:srgbClr val="E7F2EF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5413248"/>
            <a:ext cx="457200" cy="45720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45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28" y="5522976"/>
            <a:ext cx="237744" cy="237744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6784848" y="524865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权限点与角色授权存于 sys_permission、sys_role_permission 表；管理员在【教务后台 → 权限设置】勾选后即时生效（自动刷新权限缓存），ADMIN 直接放行。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关键技术与实现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课堂签到与成绩册</a:t>
            </a:r>
            <a:endParaRPr lang="en-US" sz="3000" dirty="0"/>
          </a:p>
        </p:txBody>
      </p:sp>
      <p:pic>
        <p:nvPicPr>
          <p:cNvPr id="4" name="Image 0" descr="h5-t-sign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755648" cy="36950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52578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小程序 · 教师发起签到</a:t>
            </a:r>
            <a:endParaRPr lang="zh-CN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481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课堂签到：4 位签到码</a:t>
            </a:r>
            <a:endParaRPr lang="zh-CN" sz="1600" dirty="0"/>
          </a:p>
        </p:txBody>
      </p:sp>
      <p:sp>
        <p:nvSpPr>
          <p:cNvPr id="7" name="Shape 4"/>
          <p:cNvSpPr/>
          <p:nvPr/>
        </p:nvSpPr>
        <p:spPr>
          <a:xfrm>
            <a:off x="2651760" y="1938528"/>
            <a:ext cx="3749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88920" y="2121408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7F2E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88920" y="21214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0C624F"/>
                </a:solidFill>
              </a:rPr>
              <a:t>发起</a:t>
            </a:r>
            <a:endParaRPr lang="zh-CN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584448" y="193852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老师一键生成 4 位签到码，时长 1~30 分钟（默认 5 分钟）</a:t>
            </a:r>
            <a:endParaRPr lang="zh-CN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2871216"/>
            <a:ext cx="3749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8920" y="3054096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7F2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88920" y="305409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0C624F"/>
                </a:solidFill>
              </a:rPr>
              <a:t>签到</a:t>
            </a:r>
            <a:endParaRPr lang="zh-CN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87121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学生在课程空间输入签到码；输错 5 次锁定，找老师补签</a:t>
            </a:r>
            <a:endParaRPr lang="zh-CN" sz="1200" dirty="0"/>
          </a:p>
        </p:txBody>
      </p:sp>
      <p:sp>
        <p:nvSpPr>
          <p:cNvPr id="15" name="Shape 12"/>
          <p:cNvSpPr/>
          <p:nvPr/>
        </p:nvSpPr>
        <p:spPr>
          <a:xfrm>
            <a:off x="2651760" y="3803904"/>
            <a:ext cx="3749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88920" y="3986784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7F2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88920" y="39867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0C624F"/>
                </a:solidFill>
              </a:rPr>
              <a:t>实时</a:t>
            </a:r>
            <a:endParaRPr lang="zh-CN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584448" y="380390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每有一人签到就推送静默事件，老师端人数与名单即时刷新</a:t>
            </a:r>
            <a:endParaRPr lang="zh-CN" sz="1200" dirty="0"/>
          </a:p>
        </p:txBody>
      </p:sp>
      <p:sp>
        <p:nvSpPr>
          <p:cNvPr id="19" name="Shape 16"/>
          <p:cNvSpPr/>
          <p:nvPr/>
        </p:nvSpPr>
        <p:spPr>
          <a:xfrm>
            <a:off x="2651760" y="4736592"/>
            <a:ext cx="3749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88920" y="4919472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7F2E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788920" y="49194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400" b="1" dirty="0">
                <a:solidFill>
                  <a:srgbClr val="0C624F"/>
                </a:solidFill>
              </a:rPr>
              <a:t>结算</a:t>
            </a:r>
            <a:endParaRPr lang="zh-CN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584448" y="4736592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到时或提前结束：没签的记缺勤，当天请假的记请假</a:t>
            </a:r>
            <a:endParaRPr lang="zh-CN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651760" y="5705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定时任务每 20 秒收尾过期场次；签到相关 11 个单元测试</a:t>
            </a:r>
            <a:endParaRPr lang="zh-CN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成绩册：四项加权总评</a:t>
            </a:r>
            <a:endParaRPr lang="zh-CN" sz="1600" dirty="0"/>
          </a:p>
        </p:txBody>
      </p:sp>
      <p:sp>
        <p:nvSpPr>
          <p:cNvPr id="25" name="Shape 22"/>
          <p:cNvSpPr/>
          <p:nvPr/>
        </p:nvSpPr>
        <p:spPr>
          <a:xfrm>
            <a:off x="6720840" y="1938528"/>
            <a:ext cx="4919472" cy="1700784"/>
          </a:xfrm>
          <a:prstGeom prst="roundRect">
            <a:avLst>
              <a:gd name="adj" fmla="val 6452"/>
            </a:avLst>
          </a:prstGeom>
          <a:solidFill>
            <a:srgbClr val="0C2A2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94944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总评 =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6949440" y="2560320"/>
            <a:ext cx="1024128" cy="676656"/>
          </a:xfrm>
          <a:prstGeom prst="roundRect">
            <a:avLst>
              <a:gd name="adj" fmla="val 10811"/>
            </a:avLst>
          </a:prstGeom>
          <a:solidFill>
            <a:srgbClr val="15392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49440" y="25968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考勤分</a:t>
            </a:r>
            <a:endParaRPr lang="zh-CN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29077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EDB04A"/>
                </a:solidFill>
              </a:rPr>
              <a:t>× w₁</a:t>
            </a:r>
            <a:endParaRPr lang="zh-CN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973568" y="2697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+</a:t>
            </a:r>
            <a:endParaRPr lang="zh-CN" sz="1400" dirty="0"/>
          </a:p>
        </p:txBody>
      </p:sp>
      <p:sp>
        <p:nvSpPr>
          <p:cNvPr id="31" name="Shape 28"/>
          <p:cNvSpPr/>
          <p:nvPr/>
        </p:nvSpPr>
        <p:spPr>
          <a:xfrm>
            <a:off x="8092440" y="2560320"/>
            <a:ext cx="1024128" cy="676656"/>
          </a:xfrm>
          <a:prstGeom prst="roundRect">
            <a:avLst>
              <a:gd name="adj" fmla="val 10811"/>
            </a:avLst>
          </a:prstGeom>
          <a:solidFill>
            <a:srgbClr val="15392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092440" y="25968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作业分</a:t>
            </a:r>
            <a:endParaRPr lang="zh-CN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092440" y="29077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EDB04A"/>
                </a:solidFill>
              </a:rPr>
              <a:t>× w₂</a:t>
            </a:r>
            <a:endParaRPr lang="zh-CN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116568" y="2697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+</a:t>
            </a:r>
            <a:endParaRPr lang="zh-CN" sz="1400" dirty="0"/>
          </a:p>
        </p:txBody>
      </p:sp>
      <p:sp>
        <p:nvSpPr>
          <p:cNvPr id="35" name="Shape 32"/>
          <p:cNvSpPr/>
          <p:nvPr/>
        </p:nvSpPr>
        <p:spPr>
          <a:xfrm>
            <a:off x="9235440" y="2560320"/>
            <a:ext cx="1024128" cy="676656"/>
          </a:xfrm>
          <a:prstGeom prst="roundRect">
            <a:avLst>
              <a:gd name="adj" fmla="val 10811"/>
            </a:avLst>
          </a:prstGeom>
          <a:solidFill>
            <a:srgbClr val="15392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235440" y="25968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平时分</a:t>
            </a:r>
            <a:endParaRPr lang="zh-CN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235440" y="29077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EDB04A"/>
                </a:solidFill>
              </a:rPr>
              <a:t>× w₃</a:t>
            </a:r>
            <a:endParaRPr lang="zh-CN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259568" y="2697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+</a:t>
            </a:r>
            <a:endParaRPr lang="zh-CN" sz="1400" dirty="0"/>
          </a:p>
        </p:txBody>
      </p:sp>
      <p:sp>
        <p:nvSpPr>
          <p:cNvPr id="39" name="Shape 36"/>
          <p:cNvSpPr/>
          <p:nvPr/>
        </p:nvSpPr>
        <p:spPr>
          <a:xfrm>
            <a:off x="10378440" y="2560320"/>
            <a:ext cx="1024128" cy="676656"/>
          </a:xfrm>
          <a:prstGeom prst="roundRect">
            <a:avLst>
              <a:gd name="adj" fmla="val 10811"/>
            </a:avLst>
          </a:prstGeom>
          <a:solidFill>
            <a:srgbClr val="15392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378440" y="25968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期末分</a:t>
            </a:r>
            <a:endParaRPr lang="zh-CN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0378440" y="29077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rgbClr val="EDB04A"/>
                </a:solidFill>
              </a:rPr>
              <a:t>× w₄</a:t>
            </a:r>
            <a:endParaRPr lang="zh-CN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94944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A9D8C8"/>
                </a:solidFill>
              </a:rPr>
              <a:t>四项权重为 0~100 的整数、合计 100，每门课自定</a:t>
            </a:r>
            <a:endParaRPr lang="zh-CN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6720840" y="3840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考勤分</a:t>
            </a:r>
            <a:endParaRPr lang="zh-CN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3524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正常 / 请假 100、迟到 / 早退 80、缺勤 0，取平均（没有记录记 100）</a:t>
            </a:r>
            <a:endParaRPr lang="zh-CN" sz="1250" dirty="0"/>
          </a:p>
        </p:txBody>
      </p:sp>
      <p:sp>
        <p:nvSpPr>
          <p:cNvPr id="45" name="Shape 42"/>
          <p:cNvSpPr/>
          <p:nvPr/>
        </p:nvSpPr>
        <p:spPr>
          <a:xfrm>
            <a:off x="6720840" y="4434840"/>
            <a:ext cx="4919472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2084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作业分</a:t>
            </a:r>
            <a:endParaRPr lang="zh-CN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635240" y="44805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每个作业任务 批改分 ÷ 满分 × 100，过了截止没交记 0，取平均</a:t>
            </a:r>
            <a:endParaRPr lang="zh-CN" sz="1250" dirty="0"/>
          </a:p>
        </p:txBody>
      </p:sp>
      <p:sp>
        <p:nvSpPr>
          <p:cNvPr id="48" name="Shape 45"/>
          <p:cNvSpPr/>
          <p:nvPr/>
        </p:nvSpPr>
        <p:spPr>
          <a:xfrm>
            <a:off x="6720840" y="5074920"/>
            <a:ext cx="4919472" cy="0"/>
          </a:xfrm>
          <a:prstGeom prst="line">
            <a:avLst/>
          </a:prstGeom>
          <a:noFill/>
          <a:ln w="9525">
            <a:solidFill>
              <a:srgbClr val="E8EEE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20840" y="5120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发布</a:t>
            </a:r>
            <a:endParaRPr lang="zh-CN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35240" y="51206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先存草稿 → 发布后学生可见、及格计入学分 → 撤回时扣回</a:t>
            </a:r>
            <a:endParaRPr lang="zh-CN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6720840" y="5833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总评计算与成绩册记账共 23 个单元测试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关键技术与实现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基于物品的协同过滤课程推荐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983480" cy="1572768"/>
          </a:xfrm>
          <a:prstGeom prst="roundRect">
            <a:avLst>
              <a:gd name="adj" fmla="val 6977"/>
            </a:avLst>
          </a:prstGeom>
          <a:solidFill>
            <a:srgbClr val="0C2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A9D8C8"/>
                </a:solidFill>
              </a:rPr>
              <a:t>课程相似度（余弦相似度）</a:t>
            </a:r>
            <a:endParaRPr lang="zh-CN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</a:rPr>
              <a:t>sim(A, B) =</a:t>
            </a:r>
            <a:endParaRPr lang="zh-CN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56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|U(A) ∩ U(B)|</a:t>
            </a:r>
            <a:endParaRPr lang="zh-CN" sz="1700" dirty="0"/>
          </a:p>
        </p:txBody>
      </p:sp>
      <p:sp>
        <p:nvSpPr>
          <p:cNvPr id="8" name="Shape 6"/>
          <p:cNvSpPr/>
          <p:nvPr/>
        </p:nvSpPr>
        <p:spPr>
          <a:xfrm>
            <a:off x="2606040" y="2377440"/>
            <a:ext cx="2468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2432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√( |U(A)| · |U(B)| )</a:t>
            </a:r>
            <a:endParaRPr lang="zh-CN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614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A9D8C8"/>
                </a:solidFill>
              </a:rPr>
              <a:t>U(X)：选修了课程 X 的学生集合</a:t>
            </a:r>
            <a:endParaRPr lang="zh-CN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1</a:t>
            </a:r>
            <a:endParaRPr lang="zh-CN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273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构建选课矩阵</a:t>
            </a:r>
            <a:endParaRPr lang="zh-CN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由选课记录构建「学生 × 课程」0/1 矩阵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2</a:t>
            </a:r>
            <a:endParaRPr lang="zh-CN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9867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计算课程相似度</a:t>
            </a:r>
            <a:endParaRPr lang="zh-CN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297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被同一批学生选修得越多，相似度越高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3</a:t>
            </a:r>
            <a:endParaRPr lang="zh-CN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700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打分与排序</a:t>
            </a:r>
            <a:endParaRPr lang="zh-CN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5010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候选课得分 = 与已选课程相似度之和，排除已选取前 N 门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49824"/>
            <a:ext cx="384048" cy="384048"/>
          </a:xfrm>
          <a:prstGeom prst="ellipse">
            <a:avLst/>
          </a:prstGeom>
          <a:solidFill>
            <a:srgbClr val="0F7B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4</a:t>
            </a:r>
            <a:endParaRPr lang="zh-CN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54132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冷启动降级</a:t>
            </a:r>
            <a:endParaRPr lang="zh-CN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57241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无选课记录或相似度均为 0 时，按选课人数推荐热门课</a:t>
            </a:r>
            <a:endParaRPr lang="zh-CN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计算示例（4 名学生 × 3 门课程）</a:t>
            </a:r>
            <a:endParaRPr lang="zh-CN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901952"/>
          <a:ext cx="3566160" cy="914400"/>
        </p:xfrm>
        <a:graphic>
          <a:graphicData uri="http://schemas.openxmlformats.org/drawingml/2006/table">
            <a:tbl>
              <a:tblPr/>
              <a:tblGrid>
                <a:gridCol w="877824"/>
                <a:gridCol w="896112"/>
                <a:gridCol w="896112"/>
                <a:gridCol w="8961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课程 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课程 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课程 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11D"/>
                          </a:solidFill>
                        </a:rPr>
                        <a:t>学生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D999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11D"/>
                          </a:solidFill>
                        </a:rPr>
                        <a:t>学生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11D"/>
                          </a:solidFill>
                        </a:rPr>
                        <a:t>学生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D999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11D"/>
                          </a:solidFill>
                        </a:rPr>
                        <a:t>学生 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D999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D999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852160" y="3913632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2F8F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03504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sim(A, B) = 2 / √(3×3) ≈ 0.67</a:t>
            </a:r>
            <a:endParaRPr lang="zh-CN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03504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sim(A, C) = 2 / √(3×2) ≈ 0.82</a:t>
            </a:r>
            <a:endParaRPr lang="zh-CN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47000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只选了 A 的同学：</a:t>
            </a:r>
            <a:endParaRPr lang="zh-CN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0F7B63"/>
                </a:solidFill>
              </a:rPr>
              <a:t>推荐 C（0.82）&gt; B（0.67）</a:t>
            </a:r>
            <a:endParaRPr lang="zh-CN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852160" y="5541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推荐结果缓存 60 秒；9 个单元测试覆盖</a:t>
            </a:r>
            <a:endParaRPr lang="zh-CN" sz="1100" dirty="0"/>
          </a:p>
        </p:txBody>
      </p:sp>
      <p:pic>
        <p:nvPicPr>
          <p:cNvPr id="34" name="Image 0" descr="h5-s2-square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481328"/>
            <a:ext cx="1810512" cy="381053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555480" y="5358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小程序 · 课程广场「猜你想选」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关键技术与实现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多指标加权的学业预警模型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172200" cy="1463040"/>
          </a:xfrm>
          <a:prstGeom prst="roundRect">
            <a:avLst>
              <a:gd name="adj" fmla="val 7500"/>
            </a:avLst>
          </a:prstGeom>
          <a:solidFill>
            <a:srgbClr val="0C2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A9D8C8"/>
                </a:solidFill>
              </a:rPr>
              <a:t>风险指数 R（0 ~ 100）</a:t>
            </a:r>
            <a:endParaRPr lang="zh-CN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200" b="1" dirty="0">
                <a:solidFill>
                  <a:srgbClr val="FFFFFF"/>
                </a:solidFill>
              </a:rPr>
              <a:t>R =</a:t>
            </a:r>
            <a:endParaRPr lang="zh-CN" sz="2200" dirty="0"/>
          </a:p>
        </p:txBody>
      </p:sp>
      <p:sp>
        <p:nvSpPr>
          <p:cNvPr id="7" name="Shape 5"/>
          <p:cNvSpPr/>
          <p:nvPr/>
        </p:nvSpPr>
        <p:spPr>
          <a:xfrm>
            <a:off x="1481328" y="192024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1539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81328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不及格占比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EDB04A"/>
                </a:solidFill>
              </a:rPr>
              <a:t>× 40</a:t>
            </a:r>
            <a:endParaRPr lang="zh-CN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+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1539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平均分差距</a:t>
            </a:r>
            <a:endParaRPr lang="zh-CN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EDB04A"/>
                </a:solidFill>
              </a:rPr>
              <a:t>× 30</a:t>
            </a:r>
            <a:endParaRPr lang="zh-CN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103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+</a:t>
            </a:r>
            <a:endParaRPr lang="zh-CN" sz="1800" dirty="0"/>
          </a:p>
        </p:txBody>
      </p:sp>
      <p:sp>
        <p:nvSpPr>
          <p:cNvPr id="15" name="Shape 13"/>
          <p:cNvSpPr/>
          <p:nvPr/>
        </p:nvSpPr>
        <p:spPr>
          <a:xfrm>
            <a:off x="4919472" y="192024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1539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19472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异常考勤率</a:t>
            </a:r>
            <a:endParaRPr lang="zh-CN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19472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EDB04A"/>
                </a:solidFill>
              </a:rPr>
              <a:t>× 30</a:t>
            </a:r>
            <a:endParaRPr lang="zh-CN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68833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A9D8C8"/>
                </a:solidFill>
              </a:rPr>
              <a:t>异常考勤：缺勤计 1 次，迟到、早退各计 0.5 次；只算已发布的成绩</a:t>
            </a:r>
            <a:endParaRPr lang="zh-CN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预警等级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1F3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547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D8048"/>
                </a:solidFill>
              </a:rPr>
              <a:t>正常</a:t>
            </a:r>
            <a:endParaRPr lang="zh-CN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D8048"/>
                </a:solidFill>
              </a:rPr>
              <a:t>R &lt; 10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2121408" y="3511296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BEE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21408" y="3547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9A5C00"/>
                </a:solidFill>
              </a:rPr>
              <a:t>低风险</a:t>
            </a:r>
            <a:endParaRPr lang="zh-CN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121408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9A5C00"/>
                </a:solidFill>
              </a:rPr>
              <a:t>R ≥ 10</a:t>
            </a:r>
            <a:endParaRPr lang="zh-CN" sz="1200" dirty="0"/>
          </a:p>
        </p:txBody>
      </p:sp>
      <p:sp>
        <p:nvSpPr>
          <p:cNvPr id="26" name="Shape 24"/>
          <p:cNvSpPr/>
          <p:nvPr/>
        </p:nvSpPr>
        <p:spPr>
          <a:xfrm>
            <a:off x="3694176" y="3511296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7C9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94176" y="3547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7A3E00"/>
                </a:solidFill>
              </a:rPr>
              <a:t>中风险</a:t>
            </a:r>
            <a:endParaRPr lang="zh-CN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94176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7A3E00"/>
                </a:solidFill>
              </a:rPr>
              <a:t>R ≥ 30</a:t>
            </a:r>
            <a:endParaRPr lang="zh-CN" sz="1200" dirty="0"/>
          </a:p>
        </p:txBody>
      </p:sp>
      <p:sp>
        <p:nvSpPr>
          <p:cNvPr id="29" name="Shape 27"/>
          <p:cNvSpPr/>
          <p:nvPr/>
        </p:nvSpPr>
        <p:spPr>
          <a:xfrm>
            <a:off x="5266944" y="3511296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C237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66944" y="3547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高风险</a:t>
            </a:r>
            <a:endParaRPr lang="zh-CN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266944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</a:rPr>
              <a:t>R ≥ 60</a:t>
            </a:r>
            <a:endParaRPr lang="zh-CN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98848"/>
            <a:ext cx="19202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13232" y="4626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计算风险指数</a:t>
            </a:r>
            <a:endParaRPr lang="zh-CN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974336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按角色隔离数据范围：管理员全部、教师任课学生、学生本人</a:t>
            </a:r>
            <a:endParaRPr lang="zh-CN" sz="1200" dirty="0"/>
          </a:p>
        </p:txBody>
      </p:sp>
      <p:sp>
        <p:nvSpPr>
          <p:cNvPr id="35" name="Shape 33"/>
          <p:cNvSpPr/>
          <p:nvPr/>
        </p:nvSpPr>
        <p:spPr>
          <a:xfrm>
            <a:off x="2487168" y="5303520"/>
            <a:ext cx="164592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670048" y="4498848"/>
            <a:ext cx="19202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2834640" y="4626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分级展示</a:t>
            </a:r>
            <a:endParaRPr lang="zh-CN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834640" y="4974336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列出风险等级、各项指标与处理建议</a:t>
            </a:r>
            <a:endParaRPr lang="zh-CN" sz="1200" dirty="0"/>
          </a:p>
        </p:txBody>
      </p:sp>
      <p:sp>
        <p:nvSpPr>
          <p:cNvPr id="39" name="Shape 37"/>
          <p:cNvSpPr/>
          <p:nvPr/>
        </p:nvSpPr>
        <p:spPr>
          <a:xfrm>
            <a:off x="4608576" y="5303520"/>
            <a:ext cx="164592" cy="0"/>
          </a:xfrm>
          <a:prstGeom prst="line">
            <a:avLst/>
          </a:prstGeom>
          <a:noFill/>
          <a:ln w="15875">
            <a:solidFill>
              <a:srgbClr val="3FB0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91456" y="4498848"/>
            <a:ext cx="19202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956048" y="4626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推送提醒</a:t>
            </a:r>
            <a:endParaRPr lang="zh-CN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956048" y="4974336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教师首页「需要关注的学生」、预警页可一键提醒</a:t>
            </a:r>
            <a:endParaRPr lang="zh-CN" sz="1200" dirty="0"/>
          </a:p>
        </p:txBody>
      </p:sp>
      <p:pic>
        <p:nvPicPr>
          <p:cNvPr id="43" name="Image 0" descr="h5-a-warnings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81328"/>
            <a:ext cx="2103120" cy="4426373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6967728" y="5943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小程序 · 管理员视角</a:t>
            </a:r>
            <a:endParaRPr lang="zh-CN" sz="1100" dirty="0"/>
          </a:p>
        </p:txBody>
      </p:sp>
      <p:sp>
        <p:nvSpPr>
          <p:cNvPr id="45" name="Shape 42"/>
          <p:cNvSpPr/>
          <p:nvPr/>
        </p:nvSpPr>
        <p:spPr>
          <a:xfrm>
            <a:off x="9491472" y="1755648"/>
            <a:ext cx="384048" cy="384048"/>
          </a:xfrm>
          <a:prstGeom prst="ellipse">
            <a:avLst/>
          </a:prstGeom>
          <a:solidFill>
            <a:srgbClr val="EDB04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491472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17211D"/>
                </a:solidFill>
              </a:rPr>
              <a:t>1</a:t>
            </a:r>
            <a:endParaRPr lang="zh-CN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985248" y="17373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风险等级标签</a:t>
            </a:r>
            <a:endParaRPr lang="zh-CN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985248" y="20665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高风险、中风险醒目标出</a:t>
            </a:r>
            <a:endParaRPr lang="zh-CN" sz="1150" dirty="0"/>
          </a:p>
        </p:txBody>
      </p:sp>
      <p:sp>
        <p:nvSpPr>
          <p:cNvPr id="49" name="Shape 46"/>
          <p:cNvSpPr/>
          <p:nvPr/>
        </p:nvSpPr>
        <p:spPr>
          <a:xfrm>
            <a:off x="9491472" y="2834640"/>
            <a:ext cx="384048" cy="384048"/>
          </a:xfrm>
          <a:prstGeom prst="ellipse">
            <a:avLst/>
          </a:prstGeom>
          <a:solidFill>
            <a:srgbClr val="EDB04A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49147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17211D"/>
                </a:solidFill>
              </a:rPr>
              <a:t>2</a:t>
            </a:r>
            <a:endParaRPr lang="zh-CN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9985248" y="28163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风险指数</a:t>
            </a:r>
            <a:endParaRPr lang="zh-CN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985248" y="314553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指数越高越需要关注</a:t>
            </a:r>
            <a:endParaRPr lang="zh-CN" sz="1150" dirty="0"/>
          </a:p>
        </p:txBody>
      </p:sp>
      <p:sp>
        <p:nvSpPr>
          <p:cNvPr id="53" name="Shape 50"/>
          <p:cNvSpPr/>
          <p:nvPr/>
        </p:nvSpPr>
        <p:spPr>
          <a:xfrm>
            <a:off x="9491472" y="3913632"/>
            <a:ext cx="384048" cy="384048"/>
          </a:xfrm>
          <a:prstGeom prst="ellipse">
            <a:avLst/>
          </a:prstGeom>
          <a:solidFill>
            <a:srgbClr val="EDB04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949147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17211D"/>
                </a:solidFill>
              </a:rPr>
              <a:t>3</a:t>
            </a:r>
            <a:endParaRPr lang="zh-CN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9985248" y="38953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四项指标</a:t>
            </a:r>
            <a:endParaRPr lang="zh-CN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9985248" y="42245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修读门数、平均分、</a:t>
            </a:r>
            <a:endParaRPr lang="zh-CN" sz="115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不及格门数、异常考勤率</a:t>
            </a:r>
            <a:endParaRPr lang="zh-CN" sz="1150" dirty="0"/>
          </a:p>
        </p:txBody>
      </p:sp>
      <p:sp>
        <p:nvSpPr>
          <p:cNvPr id="57" name="Shape 54"/>
          <p:cNvSpPr/>
          <p:nvPr/>
        </p:nvSpPr>
        <p:spPr>
          <a:xfrm>
            <a:off x="9491472" y="4992624"/>
            <a:ext cx="384048" cy="384048"/>
          </a:xfrm>
          <a:prstGeom prst="ellipse">
            <a:avLst/>
          </a:prstGeom>
          <a:solidFill>
            <a:srgbClr val="EDB04A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491472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17211D"/>
                </a:solidFill>
              </a:rPr>
              <a:t>4</a:t>
            </a:r>
            <a:endParaRPr lang="zh-CN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9985248" y="49743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建议与提醒</a:t>
            </a:r>
            <a:endParaRPr lang="zh-CN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9985248" y="53035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给出处理建议，</a:t>
            </a:r>
            <a:endParaRPr lang="zh-CN" sz="115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5F6B66"/>
                </a:solidFill>
              </a:rPr>
              <a:t>可一键推送提醒</a:t>
            </a:r>
            <a:endParaRPr lang="zh-CN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04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关键技术与实现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WebSocket 实时通知与多端偏好同步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1206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带标题的消息：先落库，再推送</a:t>
            </a:r>
            <a:endParaRPr lang="zh-CN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993392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成绩发布</a:t>
            </a:r>
            <a:endParaRPr lang="zh-CN" sz="1150" dirty="0"/>
          </a:p>
        </p:txBody>
      </p:sp>
      <p:sp>
        <p:nvSpPr>
          <p:cNvPr id="8" name="Shape 6"/>
          <p:cNvSpPr/>
          <p:nvPr/>
        </p:nvSpPr>
        <p:spPr>
          <a:xfrm>
            <a:off x="2359152" y="1993392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59152" y="19933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作业批改</a:t>
            </a:r>
            <a:endParaRPr lang="zh-CN" sz="1150" dirty="0"/>
          </a:p>
        </p:txBody>
      </p:sp>
      <p:sp>
        <p:nvSpPr>
          <p:cNvPr id="10" name="Shape 8"/>
          <p:cNvSpPr/>
          <p:nvPr/>
        </p:nvSpPr>
        <p:spPr>
          <a:xfrm>
            <a:off x="3968496" y="1993392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68496" y="19933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请假审核</a:t>
            </a:r>
            <a:endParaRPr lang="zh-CN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2432304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4323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学业预警提醒</a:t>
            </a:r>
            <a:endParaRPr lang="zh-CN" sz="1150" dirty="0"/>
          </a:p>
        </p:txBody>
      </p:sp>
      <p:sp>
        <p:nvSpPr>
          <p:cNvPr id="14" name="Shape 12"/>
          <p:cNvSpPr/>
          <p:nvPr/>
        </p:nvSpPr>
        <p:spPr>
          <a:xfrm>
            <a:off x="2359152" y="2432304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59152" y="24323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课程公告</a:t>
            </a:r>
            <a:endParaRPr lang="zh-CN" sz="1150" dirty="0"/>
          </a:p>
        </p:txBody>
      </p:sp>
      <p:sp>
        <p:nvSpPr>
          <p:cNvPr id="16" name="Shape 14"/>
          <p:cNvSpPr/>
          <p:nvPr/>
        </p:nvSpPr>
        <p:spPr>
          <a:xfrm>
            <a:off x="3968496" y="2432304"/>
            <a:ext cx="1499616" cy="347472"/>
          </a:xfrm>
          <a:prstGeom prst="roundRect">
            <a:avLst>
              <a:gd name="adj" fmla="val 15789"/>
            </a:avLst>
          </a:prstGeom>
          <a:solidFill>
            <a:srgbClr val="E7F2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68496" y="24323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150" dirty="0">
                <a:solidFill>
                  <a:srgbClr val="17211D"/>
                </a:solidFill>
              </a:rPr>
              <a:t>全校通知（广播）</a:t>
            </a:r>
            <a:endParaRPr lang="zh-CN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90672"/>
            <a:ext cx="51206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9808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0F7B63"/>
                </a:solidFill>
              </a:rPr>
              <a:t>静默事件：不落库、不打扰</a:t>
            </a:r>
            <a:endParaRPr lang="zh-CN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5295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17211D"/>
                </a:solidFill>
              </a:rPr>
              <a:t>有人签到、交作业、发公告 → 打开着的课程空间对应分页自动刷新</a:t>
            </a:r>
            <a:endParaRPr lang="zh-CN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120640" cy="896112"/>
          </a:xfrm>
          <a:prstGeom prst="roundRect">
            <a:avLst>
              <a:gd name="adj" fmla="val 10204"/>
            </a:avLst>
          </a:prstGeom>
          <a:solidFill>
            <a:srgbClr val="0C2A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NoticeWebSocketServer</a:t>
            </a:r>
            <a:endParaRPr lang="zh-CN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53542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C9E3DA"/>
                </a:solidFill>
              </a:rPr>
              <a:t>连接时校验 token；按「用户ID-角色」登记连接，定点推送与全员广播</a:t>
            </a:r>
            <a:endParaRPr lang="zh-CN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F2F8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212080"/>
            <a:ext cx="365760" cy="36576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26" name="Image 0" descr="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5299862"/>
            <a:ext cx="190195" cy="1901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52144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Web 端</a:t>
            </a:r>
            <a:endParaRPr lang="zh-CN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" y="5632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右上角通知 + 未读数</a:t>
            </a:r>
            <a:endParaRPr lang="zh-CN" sz="11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断线 10 秒自动重连</a:t>
            </a:r>
            <a:endParaRPr lang="zh-CN" sz="1100" dirty="0"/>
          </a:p>
        </p:txBody>
      </p:sp>
      <p:sp>
        <p:nvSpPr>
          <p:cNvPr id="29" name="Shape 26"/>
          <p:cNvSpPr/>
          <p:nvPr/>
        </p:nvSpPr>
        <p:spPr>
          <a:xfrm>
            <a:off x="3182112" y="5120640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F2F8F6"/>
          </a:solidFill>
          <a:ln/>
        </p:spPr>
      </p:sp>
      <p:sp>
        <p:nvSpPr>
          <p:cNvPr id="30" name="Shape 27"/>
          <p:cNvSpPr/>
          <p:nvPr/>
        </p:nvSpPr>
        <p:spPr>
          <a:xfrm>
            <a:off x="3328416" y="5212080"/>
            <a:ext cx="365760" cy="365760"/>
          </a:xfrm>
          <a:prstGeom prst="ellipse">
            <a:avLst/>
          </a:prstGeom>
          <a:solidFill>
            <a:srgbClr val="0F7B63"/>
          </a:solidFill>
          <a:ln/>
        </p:spPr>
      </p:sp>
      <p:pic>
        <p:nvPicPr>
          <p:cNvPr id="31" name="Image 1" descr="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98" y="5299862"/>
            <a:ext cx="190195" cy="19019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785616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17211D"/>
                </a:solidFill>
              </a:rPr>
              <a:t>小程序</a:t>
            </a:r>
            <a:endParaRPr lang="zh-CN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3328416" y="5632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「消息」tab 未读角标</a:t>
            </a:r>
            <a:endParaRPr lang="zh-CN" sz="11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100" dirty="0">
                <a:solidFill>
                  <a:srgbClr val="5F6B66"/>
                </a:solidFill>
              </a:rPr>
              <a:t>心跳保活 + 指数退避重连</a:t>
            </a:r>
            <a:endParaRPr lang="zh-CN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989320" y="14813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主题、语言、主题色存在账号表：登录后自动拉取，修改后推送，Web 端与小程序保持一致</a:t>
            </a:r>
            <a:endParaRPr lang="zh-CN" sz="1300" dirty="0"/>
          </a:p>
        </p:txBody>
      </p:sp>
      <p:pic>
        <p:nvPicPr>
          <p:cNvPr id="35" name="Image 2" descr="h5-s-messages-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1298448" cy="273280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897880" y="4956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消息中心 · 未读角标</a:t>
            </a:r>
            <a:endParaRPr lang="zh-CN" sz="1200" dirty="0"/>
          </a:p>
        </p:txBody>
      </p:sp>
      <p:pic>
        <p:nvPicPr>
          <p:cNvPr id="37" name="Image 3" descr="h5-s-home-dark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2103120"/>
            <a:ext cx="1298448" cy="273280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333488" y="4956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深色模式</a:t>
            </a:r>
            <a:endParaRPr lang="zh-CN" sz="1200" dirty="0"/>
          </a:p>
        </p:txBody>
      </p:sp>
      <p:pic>
        <p:nvPicPr>
          <p:cNvPr id="39" name="Image 4" descr="h5-s-home-en-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103120"/>
            <a:ext cx="1298448" cy="273280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769096" y="4956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English 界面</a:t>
            </a:r>
            <a:endParaRPr lang="zh-CN" sz="1200" dirty="0"/>
          </a:p>
        </p:txBody>
      </p:sp>
      <p:pic>
        <p:nvPicPr>
          <p:cNvPr id="41" name="Image 5" descr="h5-s-mine-color-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103120"/>
            <a:ext cx="1298448" cy="273280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204704" y="4956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自定义主题色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系统展示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Web 端：分角色首页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localhost:8080/home</a:t>
            </a:r>
            <a:endParaRPr lang="zh-CN" sz="850" dirty="0"/>
          </a:p>
        </p:txBody>
      </p:sp>
      <p:pic>
        <p:nvPicPr>
          <p:cNvPr id="10" name="Image 0" descr="localhost:8080/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55648"/>
            <a:ext cx="5367528" cy="33547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27064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64224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1384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2"/>
          <p:cNvSpPr/>
          <p:nvPr/>
        </p:nvSpPr>
        <p:spPr>
          <a:xfrm>
            <a:off x="6830568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58584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localhost:8080/home</a:t>
            </a:r>
            <a:endParaRPr lang="zh-CN" sz="850" dirty="0"/>
          </a:p>
        </p:txBody>
      </p:sp>
      <p:pic>
        <p:nvPicPr>
          <p:cNvPr id="17" name="Image 1" descr="localhost:8080/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24" y="1755648"/>
            <a:ext cx="5367528" cy="3354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学生首页</a:t>
            </a:r>
            <a:endParaRPr lang="zh-CN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正在上的课与下一节、今天的课、学业进度（学分、绩点、出勤率）、待交作业与近期考试</a:t>
            </a:r>
            <a:endParaRPr lang="zh-CN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27064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教师首页</a:t>
            </a:r>
            <a:endParaRPr lang="zh-CN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227064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今天的课与签到入口、待批改作业、需要关注的学生（可一键提醒）、近期考试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系统展示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课程空间：课堂签到与成绩册（教师端）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localhost:8080/course/7/attendance</a:t>
            </a:r>
            <a:endParaRPr lang="zh-CN" sz="850" dirty="0"/>
          </a:p>
        </p:txBody>
      </p:sp>
      <p:pic>
        <p:nvPicPr>
          <p:cNvPr id="10" name="Image 0" descr="localhost:8080/course/7/attend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55648"/>
            <a:ext cx="5367528" cy="33547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27064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64224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1384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2"/>
          <p:cNvSpPr/>
          <p:nvPr/>
        </p:nvSpPr>
        <p:spPr>
          <a:xfrm>
            <a:off x="6830568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58584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localhost:8080/course/7/grades</a:t>
            </a:r>
            <a:endParaRPr lang="zh-CN" sz="850" dirty="0"/>
          </a:p>
        </p:txBody>
      </p:sp>
      <p:pic>
        <p:nvPicPr>
          <p:cNvPr id="17" name="Image 1" descr="localhost:8080/course/7/gra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24" y="1755648"/>
            <a:ext cx="5367528" cy="3354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课堂签到</a:t>
            </a:r>
            <a:endParaRPr lang="zh-CN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签到码大字显示、倒计时；已签到 9 / 15 人实时刷新，名单里可把缺勤改成迟到、请假等</a:t>
            </a:r>
            <a:endParaRPr lang="zh-CN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27064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成绩册</a:t>
            </a:r>
            <a:endParaRPr lang="zh-CN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227064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四项权重自定，考勤分、作业分自动折算；录入平时分、期末分后预览总评，存草稿或发布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系统展示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课程广场与日程（学生端）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localhost:8080/square</a:t>
            </a:r>
            <a:endParaRPr lang="zh-CN" sz="850" dirty="0"/>
          </a:p>
        </p:txBody>
      </p:sp>
      <p:pic>
        <p:nvPicPr>
          <p:cNvPr id="10" name="Image 0" descr="localhost:8080/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55648"/>
            <a:ext cx="5367528" cy="33547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27064" y="1481328"/>
            <a:ext cx="5413248" cy="3651885"/>
          </a:xfrm>
          <a:prstGeom prst="roundRect">
            <a:avLst>
              <a:gd name="adj" fmla="val 1753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64224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01384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38544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2"/>
          <p:cNvSpPr/>
          <p:nvPr/>
        </p:nvSpPr>
        <p:spPr>
          <a:xfrm>
            <a:off x="6830568" y="1536192"/>
            <a:ext cx="27066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58584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localhost:8080/schedule</a:t>
            </a:r>
            <a:endParaRPr lang="zh-CN" sz="850" dirty="0"/>
          </a:p>
        </p:txBody>
      </p:sp>
      <p:pic>
        <p:nvPicPr>
          <p:cNvPr id="17" name="Image 1" descr="localhost:8080/schedu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24" y="1755648"/>
            <a:ext cx="5367528" cy="3354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课程广场</a:t>
            </a:r>
            <a:endParaRPr lang="zh-CN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「猜你想选」附推荐理由；按类型、星期筛选，名额、时间冲突、已结课在选课时校验</a:t>
            </a:r>
            <a:endParaRPr lang="zh-CN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27064" y="53583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日程</a:t>
            </a:r>
            <a:endParaRPr lang="zh-CN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227064" y="5724144"/>
            <a:ext cx="5413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周课表按课程配色，今天高亮、正在上的课描边；切到月历可选日期请假，并列出会缺的课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系统展示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开课向导（管理员）与数据大屏（管理员 / 教师）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65708" cy="382219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pic>
        <p:nvPicPr>
          <p:cNvPr id="5" name="Image 0" descr="开课向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4174268" cy="3730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85232" y="1481328"/>
            <a:ext cx="6355080" cy="3846195"/>
          </a:xfrm>
          <a:prstGeom prst="roundRect">
            <a:avLst>
              <a:gd name="adj" fmla="val 1664"/>
            </a:avLst>
          </a:prstGeom>
          <a:solidFill>
            <a:srgbClr val="EEF2F0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152400" dist="50800" dir="5400000">
              <a:srgbClr val="0C2A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22392" y="157734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5559552" y="157734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5696712" y="157734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5888736" y="153619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CE4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16752" y="15361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zh-CN" altLang="en-US" sz="850" dirty="0">
                <a:solidFill>
                  <a:srgbClr val="5F6B66"/>
                </a:solidFill>
              </a:rPr>
              <a:t>localhost:8080/dashboard</a:t>
            </a:r>
            <a:endParaRPr lang="zh-CN" sz="850" dirty="0"/>
          </a:p>
        </p:txBody>
      </p:sp>
      <p:pic>
        <p:nvPicPr>
          <p:cNvPr id="12" name="Image 1" descr="localhost:8080/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092" y="1755648"/>
            <a:ext cx="6309360" cy="354901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358384"/>
            <a:ext cx="4265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开课向导</a:t>
            </a:r>
            <a:endParaRPr lang="zh-CN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724144"/>
            <a:ext cx="42657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基本信息 → 时间与教室 → 确认；只列出该时段空着、坐得下的教室，容量最贴近的排在前面</a:t>
            </a:r>
            <a:endParaRPr lang="zh-CN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285232" y="5358384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数据大屏</a:t>
            </a:r>
            <a:endParaRPr lang="zh-CN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285232" y="5724144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5F6B66"/>
                </a:solidFill>
              </a:rPr>
              <a:t>管理员看全校、教师只看本人任课，学生不能打开</a:t>
            </a:r>
            <a:br>
              <a:rPr lang="zh-CN" altLang="en-US" sz="1300" dirty="0"/>
            </a:br>
            <a:r>
              <a:rPr lang="zh-CN" altLang="en-US" sz="1300" dirty="0">
                <a:solidFill>
                  <a:srgbClr val="5F6B66"/>
                </a:solidFill>
              </a:rPr>
              <a:t>今日上课与签到提醒、出勤走势、学业预警分级；投屏时隐藏学生姓名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05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系统展示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微信小程序端：与 Web 端同步改版</a:t>
            </a:r>
            <a:endParaRPr lang="en-US" sz="3000" dirty="0"/>
          </a:p>
        </p:txBody>
      </p:sp>
      <p:pic>
        <p:nvPicPr>
          <p:cNvPr id="4" name="Image 0" descr="h5-login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847088" cy="38875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546027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登录 · 自动识别身份</a:t>
            </a:r>
            <a:endParaRPr lang="zh-CN" sz="1300" dirty="0"/>
          </a:p>
        </p:txBody>
      </p:sp>
      <p:pic>
        <p:nvPicPr>
          <p:cNvPr id="6" name="Image 1" descr="h5-s-home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786" y="1463040"/>
            <a:ext cx="1847088" cy="38875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76906" y="546027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学生首页 · 正在上课</a:t>
            </a:r>
            <a:endParaRPr lang="zh-CN" sz="1300" dirty="0"/>
          </a:p>
        </p:txBody>
      </p:sp>
      <p:pic>
        <p:nvPicPr>
          <p:cNvPr id="8" name="Image 2" descr="h5-s-sign-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932" y="1463040"/>
            <a:ext cx="1847088" cy="388751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988052" y="546027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课程空间 · 输入签到码</a:t>
            </a:r>
            <a:endParaRPr lang="zh-CN" sz="1300" dirty="0"/>
          </a:p>
        </p:txBody>
      </p:sp>
      <p:pic>
        <p:nvPicPr>
          <p:cNvPr id="10" name="Image 3" descr="h5-s-schedule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078" y="1463040"/>
            <a:ext cx="1847088" cy="388751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299198" y="546027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日程 · 周课表</a:t>
            </a:r>
            <a:endParaRPr lang="zh-CN" sz="1300" dirty="0"/>
          </a:p>
        </p:txBody>
      </p:sp>
      <p:pic>
        <p:nvPicPr>
          <p:cNvPr id="12" name="Image 4" descr="h5-a-console-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1463040"/>
            <a:ext cx="1847088" cy="388751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610344" y="546027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「后台」tab · 管理员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06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系统测试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单元测试：502 个用例全部通过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各端单元测试用例数</a:t>
            </a:r>
            <a:endParaRPr lang="zh-CN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E7F2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0F7B63"/>
                </a:solidFill>
              </a:rPr>
              <a:t>合计 502 个，全部通过</a:t>
            </a:r>
            <a:endParaRPr lang="zh-CN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705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2026-10-15 实测；后端测试不启动 Spring 容器、不连数据库</a:t>
            </a:r>
            <a:endParaRPr lang="zh-CN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测试重点：业务规则与算法</a:t>
            </a:r>
            <a:endParaRPr lang="zh-CN" sz="1600" dirty="0"/>
          </a:p>
        </p:txBody>
      </p:sp>
      <p:sp>
        <p:nvSpPr>
          <p:cNvPr id="10" name="Shape 7"/>
          <p:cNvSpPr/>
          <p:nvPr/>
        </p:nvSpPr>
        <p:spPr>
          <a:xfrm>
            <a:off x="6355080" y="192024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55080" y="1920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选课与退选 · 25</a:t>
            </a:r>
            <a:endParaRPr lang="zh-CN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满员边界、时间冲突、退选条件等</a:t>
            </a:r>
            <a:endParaRPr lang="zh-CN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2624328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26243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成绩册与学分 · 23</a:t>
            </a:r>
            <a:endParaRPr lang="zh-CN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6243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折算与加权、发布与撤回记账</a:t>
            </a:r>
            <a:endParaRPr lang="zh-CN" sz="1250" dirty="0"/>
          </a:p>
        </p:txBody>
      </p:sp>
      <p:sp>
        <p:nvSpPr>
          <p:cNvPr id="16" name="Shape 13"/>
          <p:cNvSpPr/>
          <p:nvPr/>
        </p:nvSpPr>
        <p:spPr>
          <a:xfrm>
            <a:off x="6355080" y="332841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55080" y="33284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课堂签到 · 11</a:t>
            </a:r>
            <a:endParaRPr lang="zh-CN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3284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签到码、过期、输错锁定、补记缺勤</a:t>
            </a:r>
            <a:endParaRPr lang="zh-CN" sz="1250" dirty="0"/>
          </a:p>
        </p:txBody>
      </p:sp>
      <p:sp>
        <p:nvSpPr>
          <p:cNvPr id="19" name="Shape 16"/>
          <p:cNvSpPr/>
          <p:nvPr/>
        </p:nvSpPr>
        <p:spPr>
          <a:xfrm>
            <a:off x="6355080" y="403250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55080" y="40325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预警与推荐 · 20</a:t>
            </a:r>
            <a:endParaRPr lang="zh-CN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325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等级阈值、指标边界、冷启动降级</a:t>
            </a:r>
            <a:endParaRPr lang="zh-CN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4736592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55080" y="473659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删除保护与联动 · 18</a:t>
            </a:r>
            <a:endParaRPr lang="zh-CN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有人选的课、排着课的教室不能删</a:t>
            </a:r>
            <a:endParaRPr lang="zh-CN" sz="1250" dirty="0"/>
          </a:p>
        </p:txBody>
      </p:sp>
      <p:sp>
        <p:nvSpPr>
          <p:cNvPr id="25" name="Shape 22"/>
          <p:cNvSpPr/>
          <p:nvPr/>
        </p:nvSpPr>
        <p:spPr>
          <a:xfrm>
            <a:off x="6355080" y="54406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7F2E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55080" y="5440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300" b="1" dirty="0">
                <a:solidFill>
                  <a:srgbClr val="0C624F"/>
                </a:solidFill>
              </a:rPr>
              <a:t>小程序 · 188</a:t>
            </a:r>
            <a:endParaRPr lang="zh-CN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7211D"/>
                </a:solidFill>
              </a:rPr>
              <a:t>请求层、断线重连、站内链接换算</a:t>
            </a:r>
            <a:endParaRPr lang="zh-C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06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系统测试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查询性能验证与优化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EXPLAIN 执行计划实测</a:t>
            </a:r>
            <a:endParaRPr lang="zh-CN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1952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2103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查询条件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访问类型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命中索引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score WHERE teacher_id = 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ref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idx_score_teacher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score WHERE course_id = ? AND student_id = 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ref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idx_score_course_student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student WHERE username = 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B63"/>
                          </a:solidFill>
                        </a:rPr>
                        <a:t>const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uk_student_username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1D"/>
                          </a:solidFill>
                        </a:rPr>
                        <a:t>apply WHERE status = 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372C"/>
                          </a:solidFill>
                        </a:rPr>
                        <a:t>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6B66"/>
                          </a:solidFill>
                        </a:rPr>
                        <a:t>无索引（对照组）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6309360" cy="1280160"/>
          </a:xfrm>
          <a:prstGeom prst="roundRect">
            <a:avLst>
              <a:gd name="adj" fmla="val 7143"/>
            </a:avLst>
          </a:prstGeom>
          <a:solidFill>
            <a:srgbClr val="F2F8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846320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b="1" dirty="0">
                <a:solidFill>
                  <a:srgbClr val="0F7B63"/>
                </a:solidFill>
              </a:rPr>
              <a:t>结论：</a:t>
            </a:r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7211D"/>
                </a:solidFill>
              </a:rPr>
              <a:t>同样的数据量下，命中索引的查询走 ref / const，没有索引的对照组退化为 ALL 全表扫描；数据量增长后，这个差距会成数量级放大。</a:t>
            </a:r>
            <a:endParaRPr lang="zh-CN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17211D"/>
                </a:solidFill>
              </a:rPr>
              <a:t>性能优化措施</a:t>
            </a:r>
            <a:endParaRPr lang="zh-CN" sz="1600" dirty="0"/>
          </a:p>
        </p:txBody>
      </p:sp>
      <p:sp>
        <p:nvSpPr>
          <p:cNvPr id="9" name="Shape 6"/>
          <p:cNvSpPr/>
          <p:nvPr/>
        </p:nvSpPr>
        <p:spPr>
          <a:xfrm>
            <a:off x="7269480" y="1901952"/>
            <a:ext cx="43708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52360" y="2103120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11" name="Image 0" descr="user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255" y="22260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38160" y="20299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请求级用户缓存</a:t>
            </a:r>
            <a:endParaRPr lang="zh-CN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23591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单个写请求查询账号由 3~4 次降为 1 次</a:t>
            </a:r>
            <a:endParaRPr lang="zh-CN" sz="1200" dirty="0"/>
          </a:p>
        </p:txBody>
      </p:sp>
      <p:sp>
        <p:nvSpPr>
          <p:cNvPr id="14" name="Shape 10"/>
          <p:cNvSpPr/>
          <p:nvPr/>
        </p:nvSpPr>
        <p:spPr>
          <a:xfrm>
            <a:off x="7269480" y="2971800"/>
            <a:ext cx="43708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52360" y="3172968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16" name="Image 1" descr="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255" y="329586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8160" y="30998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统计下推数据库</a:t>
            </a:r>
            <a:endParaRPr lang="zh-CN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34290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成绩分段、考勤占比用 GROUP BY 在数据库聚合</a:t>
            </a:r>
            <a:endParaRPr lang="zh-CN" sz="1200" dirty="0"/>
          </a:p>
        </p:txBody>
      </p:sp>
      <p:sp>
        <p:nvSpPr>
          <p:cNvPr id="19" name="Shape 14"/>
          <p:cNvSpPr/>
          <p:nvPr/>
        </p:nvSpPr>
        <p:spPr>
          <a:xfrm>
            <a:off x="7269480" y="4041648"/>
            <a:ext cx="43708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4242816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21" name="Image 2" descr="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255" y="4365711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38160" y="41696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结果缓存</a:t>
            </a:r>
            <a:endParaRPr lang="zh-CN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138160" y="44988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数据大屏 30 秒、课程推荐 60 秒进程内缓存</a:t>
            </a:r>
            <a:endParaRPr lang="zh-CN" sz="1200" dirty="0"/>
          </a:p>
        </p:txBody>
      </p:sp>
      <p:sp>
        <p:nvSpPr>
          <p:cNvPr id="24" name="Shape 18"/>
          <p:cNvSpPr/>
          <p:nvPr/>
        </p:nvSpPr>
        <p:spPr>
          <a:xfrm>
            <a:off x="7269480" y="5111496"/>
            <a:ext cx="43708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52360" y="5312664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26" name="Image 3" descr="pack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255" y="5435559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38160" y="5239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前端按需加载</a:t>
            </a:r>
            <a:endParaRPr lang="zh-CN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138160" y="55686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Element Plus 组件与样式按需引入</a:t>
            </a:r>
            <a:endParaRPr lang="zh-CN" sz="12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首屏样式 355 KB → 216 KB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B63"/>
                </a:solidFill>
              </a:rPr>
              <a:t>07</a:t>
            </a:r>
            <a:pPr algn="l" indent="0" marL="0">
              <a:buNone/>
            </a:pPr>
            <a:r>
              <a:rPr lang="en-US" sz="1200" dirty="0">
                <a:solidFill>
                  <a:srgbClr val="5F6B66"/>
                </a:solidFill>
              </a:rPr>
              <a:t>   总结与展望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11D"/>
                </a:solidFill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645152"/>
          </a:xfrm>
          <a:prstGeom prst="roundRect">
            <a:avLst>
              <a:gd name="adj" fmla="val 2756"/>
            </a:avLst>
          </a:prstGeom>
          <a:solidFill>
            <a:srgbClr val="0C2A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</a:rPr>
              <a:t>工作总结</a:t>
            </a:r>
            <a:endParaRPr lang="zh-CN" sz="1800" dirty="0"/>
          </a:p>
        </p:txBody>
      </p:sp>
      <p:pic>
        <p:nvPicPr>
          <p:cNvPr id="6" name="Image 0" descr="C:\Users\Administrator\AppData\Local\Temp\claude\D--BISHE-BISHE-Software-manager-vue3\f2ab4d49-989b-4ced-bf6e-f56faa623e86\scratchpad\deck\img\icon-check-circle-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957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359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完成 Web 端、微信小程序端与 Spring Boot 后端，</a:t>
            </a:r>
            <a:endParaRPr lang="zh-CN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27066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3FB08F"/>
                </a:solidFill>
              </a:rPr>
              <a:t>以「课程空间」组织教学，三类角色业务闭环</a:t>
            </a:r>
            <a:endParaRPr lang="zh-CN" sz="1400" dirty="0"/>
          </a:p>
        </p:txBody>
      </p:sp>
      <p:pic>
        <p:nvPicPr>
          <p:cNvPr id="9" name="Image 1" descr="C:\Users\Administrator\AppData\Local\Temp\claude\D--BISHE-BISHE-Software-manager-vue3\f2ab4d49-989b-4ced-bf6e-f56faa623e86\scratchpad\deck\img\icon-check-circle-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101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32735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课堂签到、作业任务、四项加权成绩册</a:t>
            </a:r>
            <a:endParaRPr lang="zh-CN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621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3FB08F"/>
                </a:solidFill>
              </a:rPr>
              <a:t>在一门课里完成，结果实时同步</a:t>
            </a:r>
            <a:endParaRPr lang="zh-CN" sz="1400" dirty="0"/>
          </a:p>
        </p:txBody>
      </p:sp>
      <p:pic>
        <p:nvPicPr>
          <p:cNvPr id="12" name="Image 2" descr="C:\Users\Administrator\AppData\Local\Temp\claude\D--BISHE-BISHE-Software-manager-vue3\f2ab4d49-989b-4ced-bf6e-f56faa623e86\scratchpad\deck\img\icon-check-circle-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245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4187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JWT + BCrypt + RBAC 安全体系与删除保护，</a:t>
            </a:r>
            <a:endParaRPr lang="zh-CN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298448" y="4535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3FB08F"/>
                </a:solidFill>
              </a:rPr>
              <a:t>数据按角色隔离，关键操作全程留痕</a:t>
            </a:r>
            <a:endParaRPr lang="zh-CN" sz="1400" dirty="0"/>
          </a:p>
        </p:txBody>
      </p:sp>
      <p:pic>
        <p:nvPicPr>
          <p:cNvPr id="15" name="Image 3" descr="C:\Users\Administrator\AppData\Local\Temp\claude\D--BISHE-BISHE-Software-manager-vue3\f2ab4d49-989b-4ced-bf6e-f56faa623e86\scratchpad\deck\img\icon-check-circle-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98448" y="5102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协同过滤推荐与学业预警模型；</a:t>
            </a:r>
            <a:endParaRPr lang="zh-CN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1298448" y="5449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rgbClr val="3FB08F"/>
                </a:solidFill>
              </a:rPr>
              <a:t>502 个单元测试，Docker Compose 一键部署</a:t>
            </a:r>
            <a:endParaRPr lang="zh-CN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b="1" dirty="0">
                <a:solidFill>
                  <a:srgbClr val="17211D"/>
                </a:solidFill>
              </a:rPr>
              <a:t>不足与展望</a:t>
            </a:r>
            <a:endParaRPr lang="zh-CN" sz="1800" dirty="0"/>
          </a:p>
        </p:txBody>
      </p:sp>
      <p:sp>
        <p:nvSpPr>
          <p:cNvPr id="19" name="Shape 13"/>
          <p:cNvSpPr/>
          <p:nvPr/>
        </p:nvSpPr>
        <p:spPr>
          <a:xfrm>
            <a:off x="6400800" y="1956816"/>
            <a:ext cx="52395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83680" y="2157984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21" name="Image 4" descr="ser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575" y="2280879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支持集群部署</a:t>
            </a:r>
            <a:endParaRPr lang="zh-CN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269480" y="239572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登录失败计数、防重复提交与缓存目前在进程内，可引入 Redis 支持多实例</a:t>
            </a:r>
            <a:endParaRPr lang="zh-CN" sz="1200" dirty="0"/>
          </a:p>
        </p:txBody>
      </p:sp>
      <p:sp>
        <p:nvSpPr>
          <p:cNvPr id="24" name="Shape 17"/>
          <p:cNvSpPr/>
          <p:nvPr/>
        </p:nvSpPr>
        <p:spPr>
          <a:xfrm>
            <a:off x="6400800" y="3008376"/>
            <a:ext cx="52395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0" y="3209544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26" name="Image 5" descr="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575" y="3332439"/>
            <a:ext cx="266273" cy="26627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69480" y="31181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签到防代签</a:t>
            </a:r>
            <a:endParaRPr lang="zh-CN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26948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4 位签到码可能被转告，可结合定位或动态二维码</a:t>
            </a:r>
            <a:endParaRPr lang="zh-CN" sz="1200" dirty="0"/>
          </a:p>
        </p:txBody>
      </p:sp>
      <p:sp>
        <p:nvSpPr>
          <p:cNvPr id="29" name="Shape 21"/>
          <p:cNvSpPr/>
          <p:nvPr/>
        </p:nvSpPr>
        <p:spPr>
          <a:xfrm>
            <a:off x="6400800" y="4059936"/>
            <a:ext cx="52395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583680" y="4261104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31" name="Image 6" descr="sen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575" y="4383999"/>
            <a:ext cx="266273" cy="26627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69480" y="41696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小程序正式上线</a:t>
            </a:r>
            <a:endParaRPr lang="zh-CN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269480" y="449884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使用备案的 HTTPS 域名部署后端，提交审核后发布</a:t>
            </a:r>
            <a:endParaRPr lang="zh-CN" sz="1200" dirty="0"/>
          </a:p>
        </p:txBody>
      </p:sp>
      <p:sp>
        <p:nvSpPr>
          <p:cNvPr id="34" name="Shape 25"/>
          <p:cNvSpPr/>
          <p:nvPr/>
        </p:nvSpPr>
        <p:spPr>
          <a:xfrm>
            <a:off x="6400800" y="5111496"/>
            <a:ext cx="52395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2"/>
            </a:solidFill>
            <a:prstDash val="solid"/>
          </a:ln>
          <a:effectLst>
            <a:outerShdw sx="100000" sy="100000" kx="0" ky="0" algn="bl" rotWithShape="0" blurRad="76200" dist="25400" dir="5400000">
              <a:srgbClr val="0C2A22">
                <a:alpha val="6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6583680" y="5312664"/>
            <a:ext cx="512064" cy="512064"/>
          </a:xfrm>
          <a:prstGeom prst="ellipse">
            <a:avLst/>
          </a:prstGeom>
          <a:solidFill>
            <a:srgbClr val="E7F2EF"/>
          </a:solidFill>
          <a:ln/>
        </p:spPr>
      </p:sp>
      <p:pic>
        <p:nvPicPr>
          <p:cNvPr id="36" name="Image 7" descr="calend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6575" y="5435559"/>
            <a:ext cx="266273" cy="26627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269480" y="52212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17211D"/>
                </a:solidFill>
              </a:rPr>
              <a:t>智能排课</a:t>
            </a:r>
            <a:endParaRPr lang="zh-CN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7269480" y="555040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5F6B66"/>
                </a:solidFill>
              </a:rPr>
              <a:t>从空闲教室推荐扩展到全校课表的自动编排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D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系统品牌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6002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060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3600" b="1" dirty="0">
                <a:solidFill>
                  <a:srgbClr val="FFFFFF"/>
                </a:solidFill>
              </a:rPr>
              <a:t>感谢聆听，恳请各位老师批评指正</a:t>
            </a:r>
            <a:endParaRPr lang="zh-CN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520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spc="800" kern="0" dirty="0">
                <a:solidFill>
                  <a:srgbClr val="A9D8C8"/>
                </a:solidFill>
              </a:rPr>
              <a:t>THANK YOU</a:t>
            </a:r>
            <a:endParaRPr lang="zh-CN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答辩人：</a:t>
            </a:r>
            <a:pPr algn="ctr"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【姓名】</a:t>
            </a:r>
            <a:pPr algn="ctr"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A9D8C8"/>
                </a:solidFill>
              </a:rPr>
              <a:t>　　　　指导教师：</a:t>
            </a:r>
            <a:pPr algn="ctr"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</a:rPr>
              <a:t>【指导教师】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程空间">
  <a:themeElements>
    <a:clrScheme name="课程空间">
      <a:dk1>
        <a:srgbClr val="17211D"/>
      </a:dk1>
      <a:lt1>
        <a:srgbClr val="FFFFFF"/>
      </a:lt1>
      <a:dk2>
        <a:srgbClr val="0C2A22"/>
      </a:dk2>
      <a:lt2>
        <a:srgbClr val="F4F7F6"/>
      </a:lt2>
      <a:accent1>
        <a:srgbClr val="0F7B63"/>
      </a:accent1>
      <a:accent2>
        <a:srgbClr val="3FB08F"/>
      </a:accent2>
      <a:accent3>
        <a:srgbClr val="EDB04A"/>
      </a:accent3>
      <a:accent4>
        <a:srgbClr val="C2372C"/>
      </a:accent4>
      <a:accent5>
        <a:srgbClr val="2565A8"/>
      </a:accent5>
      <a:accent6>
        <a:srgbClr val="6D4BD0"/>
      </a:accent6>
      <a:hlink>
        <a:srgbClr val="0F7B63"/>
      </a:hlink>
      <a:folHlink>
        <a:srgbClr val="0C624F"/>
      </a:folHlink>
    </a:clrScheme>
    <a:fontScheme name="课程空间">
      <a:majorFont>
        <a:latin typeface="Microsoft YaHei"/>
        <a:ea typeface="Microsoft YaHei"/>
        <a:cs typeface=""/>
        <a:font script="Hans" typeface="Microsoft YaHei"/>
        <a:font script="Jpan" typeface="游ゴシック Light"/>
        <a:font script="Hang" typeface="맑은 고딕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Hans" typeface="Microsoft YaHei"/>
        <a:font script="Jpan" typeface="游ゴシック"/>
        <a:font script="Hang" typeface="맑은 고딕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Spring Boot + Vue 的教务管理系统设计与实现</dc:title>
  <dc:subject>本科毕业设计（论文）答辩</dc:subject>
  <dc:creator>PptxGenJS</dc:creator>
  <cp:lastModifiedBy>PptxGenJS</cp:lastModifiedBy>
  <cp:revision>1</cp:revision>
  <dcterms:created xsi:type="dcterms:W3CDTF">2026-10-10T09:12:15Z</dcterms:created>
  <dcterms:modified xsi:type="dcterms:W3CDTF">2026-10-10T09:12:15Z</dcterms:modified>
</cp:coreProperties>
</file>